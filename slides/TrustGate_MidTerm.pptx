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16A34A"/>
              </a:solidFill>
            </c:spPr>
          </c:dPt>
          <c:dPt>
            <c:idx val="1"/>
            <c:spPr>
              <a:solidFill>
                <a:srgbClr val="DC2626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94A3B8"/>
              </a:solidFill>
            </c:spPr>
          </c:dPt>
          <c:dPt>
            <c:idx val="4"/>
            <c:spPr>
              <a:solidFill>
                <a:srgbClr val="0B1F3A"/>
              </a:solidFill>
            </c:spPr>
          </c:dPt>
          <c:cat>
            <c:strRef>
              <c:f>Sheet1!$A$2:$A$6</c:f>
              <c:strCache>
                <c:ptCount val="5"/>
                <c:pt idx="0">
                  <c:v>Pass</c:v>
                </c:pt>
                <c:pt idx="1">
                  <c:v>Wrong output</c:v>
                </c:pt>
                <c:pt idx="2">
                  <c:v>Runtime error</c:v>
                </c:pt>
                <c:pt idx="3">
                  <c:v>Timeout</c:v>
                </c:pt>
                <c:pt idx="4">
                  <c:v>Syntax error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0.6900826446280992</c:v>
                </c:pt>
                <c:pt idx="1">
                  <c:v>0.2743801652892562</c:v>
                </c:pt>
                <c:pt idx="2">
                  <c:v>0.033600206611570246</c:v>
                </c:pt>
                <c:pt idx="3">
                  <c:v>0.0010072314049586776</c:v>
                </c:pt>
                <c:pt idx="4">
                  <c:v>0.0009297520661157025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3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0"/>
        </c:scaling>
        <c:delete/>
        <c:axPos val="b"/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 0.3</c:v>
                </c:pt>
              </c:strCache>
            </c:strRef>
          </c:tx>
          <c:spPr>
            <a:solidFill>
              <a:srgbClr val="0B1F3A"/>
            </a:solidFill>
          </c:spPr>
          <c:cat>
            <c:strRef>
              <c:f>Sheet1!$A$2:$A$5</c:f>
              <c:strCache>
                <c:ptCount val="4"/>
                <c:pt idx="0">
                  <c:v>standard</c:v>
                </c:pt>
                <c:pt idx="1">
                  <c:v>constrained</c:v>
                </c:pt>
                <c:pt idx="2">
                  <c:v>step_by_step</c:v>
                </c:pt>
                <c:pt idx="3">
                  <c:v>signature_only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0.7400826446280991</c:v>
                </c:pt>
                <c:pt idx="1">
                  <c:v>0.7283057851239669</c:v>
                </c:pt>
                <c:pt idx="2">
                  <c:v>0.7491735537190083</c:v>
                </c:pt>
                <c:pt idx="3">
                  <c:v>0.5510330578512397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temperature 1.0</c:v>
                </c:pt>
              </c:strCache>
            </c:strRef>
          </c:tx>
          <c:spPr>
            <a:solidFill>
              <a:srgbClr val="0FA3B1"/>
            </a:solidFill>
          </c:spPr>
          <c:cat>
            <c:strRef>
              <c:f>Sheet1!$A$2:$A$5</c:f>
              <c:strCache>
                <c:ptCount val="4"/>
                <c:pt idx="0">
                  <c:v>standard</c:v>
                </c:pt>
                <c:pt idx="1">
                  <c:v>constrained</c:v>
                </c:pt>
                <c:pt idx="2">
                  <c:v>step_by_step</c:v>
                </c:pt>
                <c:pt idx="3">
                  <c:v>signature_only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0.7367768595041322</c:v>
                </c:pt>
                <c:pt idx="1">
                  <c:v>0.721900826446281</c:v>
                </c:pt>
                <c:pt idx="2">
                  <c:v>0.740909090909091</c:v>
                </c:pt>
                <c:pt idx="3">
                  <c:v>0.5473140495867769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l"/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temperature 0.3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Sheet1!$A$2:$A$5</c:f>
              <c:strCache>
                <c:ptCount val="4"/>
                <c:pt idx="0">
                  <c:v>standard</c:v>
                </c:pt>
                <c:pt idx="1">
                  <c:v>constrained</c:v>
                </c:pt>
                <c:pt idx="2">
                  <c:v>step_by_step</c:v>
                </c:pt>
                <c:pt idx="3">
                  <c:v>signature_only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0.11466733870967738</c:v>
                </c:pt>
                <c:pt idx="1">
                  <c:v>0.11788826242952333</c:v>
                </c:pt>
                <c:pt idx="2">
                  <c:v>0.10513078470824955</c:v>
                </c:pt>
                <c:pt idx="3">
                  <c:v>0.07999999999999996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temperature 1.0</c:v>
                </c:pt>
              </c:strCache>
            </c:strRef>
          </c:tx>
          <c:spPr>
            <a:solidFill>
              <a:srgbClr val="F89B9B"/>
            </a:solidFill>
          </c:spPr>
          <c:cat>
            <c:strRef>
              <c:f>Sheet1!$A$2:$A$5</c:f>
              <c:strCache>
                <c:ptCount val="4"/>
                <c:pt idx="0">
                  <c:v>standard</c:v>
                </c:pt>
                <c:pt idx="1">
                  <c:v>constrained</c:v>
                </c:pt>
                <c:pt idx="2">
                  <c:v>step_by_step</c:v>
                </c:pt>
                <c:pt idx="3">
                  <c:v>signature_only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0.1143219264892269</c:v>
                </c:pt>
                <c:pt idx="1">
                  <c:v>0.11644719855409247</c:v>
                </c:pt>
                <c:pt idx="2">
                  <c:v>0.11077313054499371</c:v>
                </c:pt>
                <c:pt idx="3">
                  <c:v>0.08029713477184297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"/>
          <c:min val="0.0"/>
        </c:scaling>
        <c:delete/>
        <c:axPos val="l"/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problems</c:v>
                </c:pt>
              </c:strCache>
            </c:strRef>
          </c:tx>
          <c:dPt>
            <c:idx val="0"/>
            <c:spPr>
              <a:solidFill>
                <a:srgbClr val="DC2626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0FA3B1"/>
              </a:solidFill>
            </c:spPr>
          </c:dPt>
          <c:dPt>
            <c:idx val="3"/>
            <c:spPr>
              <a:solidFill>
                <a:srgbClr val="16A34A"/>
              </a:solidFill>
            </c:spPr>
          </c:dPt>
          <c:cat>
            <c:strRef>
              <c:f>Sheet1!$A$2:$A$5</c:f>
              <c:strCache>
                <c:ptCount val="4"/>
                <c:pt idx="0">
                  <c:v>0% (never)</c:v>
                </c:pt>
                <c:pt idx="1">
                  <c:v>1–50%</c:v>
                </c:pt>
                <c:pt idx="2">
                  <c:v>51–99%</c:v>
                </c:pt>
                <c:pt idx="3">
                  <c:v>100% (always)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137</c:v>
                </c:pt>
                <c:pt idx="1">
                  <c:v>124</c:v>
                </c:pt>
                <c:pt idx="2">
                  <c:v>319</c:v>
                </c:pt>
                <c:pt idx="3">
                  <c:v>388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|correlation| with label</c:v>
                </c:pt>
              </c:strCache>
            </c:strRef>
          </c:tx>
          <c:dPt>
            <c:idx val="0"/>
            <c:spPr>
              <a:solidFill>
                <a:srgbClr val="0FA3B1"/>
              </a:solidFill>
            </c:spPr>
          </c:dPt>
          <c:dPt>
            <c:idx val="1"/>
            <c:spPr>
              <a:solidFill>
                <a:srgbClr val="0FA3B1"/>
              </a:solidFill>
            </c:spPr>
          </c:dPt>
          <c:dPt>
            <c:idx val="2"/>
            <c:spPr>
              <a:solidFill>
                <a:srgbClr val="0FA3B1"/>
              </a:solidFill>
            </c:spPr>
          </c:dPt>
          <c:dPt>
            <c:idx val="3"/>
            <c:spPr>
              <a:solidFill>
                <a:srgbClr val="94A3B8"/>
              </a:solidFill>
            </c:spPr>
          </c:dPt>
          <c:dPt>
            <c:idx val="4"/>
            <c:spPr>
              <a:solidFill>
                <a:srgbClr val="94A3B8"/>
              </a:solidFill>
            </c:spPr>
          </c:dPt>
          <c:dPt>
            <c:idx val="5"/>
            <c:spPr>
              <a:solidFill>
                <a:srgbClr val="94A3B8"/>
              </a:solidFill>
            </c:spPr>
          </c:dPt>
          <c:dPt>
            <c:idx val="6"/>
            <c:spPr>
              <a:solidFill>
                <a:srgbClr val="94A3B8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F2937"/>
                        </a:solidFill>
                      </a:rPr>
                      <a:t>+0.78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F2937"/>
                        </a:solidFill>
                      </a:rPr>
                      <a:t>+0.72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F2937"/>
                        </a:solidFill>
                      </a:rPr>
                      <a:t>+0.59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F2937"/>
                        </a:solidFill>
                      </a:rPr>
                      <a:t>-0.18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F2937"/>
                        </a:solidFill>
                      </a:rPr>
                      <a:t>-0.12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F2937"/>
                        </a:solidFill>
                      </a:rPr>
                      <a:t>-0.11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100">
                        <a:solidFill>
                          <a:srgbClr val="1F2937"/>
                        </a:solidFill>
                      </a:rPr>
                      <a:t>-0.11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Passes visible test</c:v>
                </c:pt>
                <c:pt idx="1">
                  <c:v>Agrees with siblings (visible)</c:v>
                </c:pt>
                <c:pt idx="2">
                  <c:v>Agrees with siblings (probes)</c:v>
                </c:pt>
                <c:pt idx="3">
                  <c:v>Crashes on probe inputs</c:v>
                </c:pt>
                <c:pt idx="4">
                  <c:v>Number of arguments</c:v>
                </c:pt>
                <c:pt idx="5">
                  <c:v>Max cyclomatic complexity</c:v>
                </c:pt>
                <c:pt idx="6">
                  <c:v>Total cyclomatic complexity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0.7759602949454852</c:v>
                </c:pt>
                <c:pt idx="1">
                  <c:v>0.7222870953241165</c:v>
                </c:pt>
                <c:pt idx="2">
                  <c:v>0.5928757565292244</c:v>
                </c:pt>
                <c:pt idx="3">
                  <c:v>0.18052240454045293</c:v>
                </c:pt>
                <c:pt idx="4">
                  <c:v>0.11551189410936935</c:v>
                </c:pt>
                <c:pt idx="5">
                  <c:v>0.10565012623813125</c:v>
                </c:pt>
                <c:pt idx="6">
                  <c:v>0.1052908298356332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5"/>
          <c:min val="0.0"/>
        </c:scaling>
        <c:delete/>
        <c:axPos val="b"/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AUROC</c:v>
                </c:pt>
              </c:strCache>
            </c:strRef>
          </c:tx>
          <c:dPt>
            <c:idx val="0"/>
            <c:spPr>
              <a:solidFill>
                <a:srgbClr val="94A3B8"/>
              </a:solidFill>
            </c:spPr>
          </c:dPt>
          <c:dPt>
            <c:idx val="1"/>
            <c:spPr>
              <a:solidFill>
                <a:srgbClr val="132E52"/>
              </a:solidFill>
            </c:spPr>
          </c:dPt>
          <c:dPt>
            <c:idx val="2"/>
            <c:spPr>
              <a:solidFill>
                <a:srgbClr val="132E52"/>
              </a:solidFill>
            </c:spPr>
          </c:dPt>
          <c:dPt>
            <c:idx val="3"/>
            <c:spPr>
              <a:solidFill>
                <a:srgbClr val="0FA3B1"/>
              </a:solidFill>
            </c:spPr>
          </c:dPt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Log. reg.</c:v>
                </c:pt>
                <c:pt idx="2">
                  <c:v>Grad. boost</c:v>
                </c:pt>
                <c:pt idx="3">
                  <c:v>TrustGate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0.8559842928538977</c:v>
                </c:pt>
                <c:pt idx="1">
                  <c:v>0.9204215976864774</c:v>
                </c:pt>
                <c:pt idx="2">
                  <c:v>0.9309560589342508</c:v>
                </c:pt>
                <c:pt idx="3">
                  <c:v>0.940925481202628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/>
        <c:axPos val="l"/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Trustworthy</c:v>
                </c:pt>
              </c:strCache>
            </c:strRef>
          </c:tx>
          <c:spPr>
            <a:solidFill>
              <a:srgbClr val="16A34A"/>
            </a:solidFill>
          </c:spPr>
          <c:cat>
            <c:strRef>
              <c:f>Sheet1!$A$2:$A$4</c:f>
              <c:strCache>
                <c:ptCount val="3"/>
                <c:pt idx="0">
                  <c:v>Approved</c:v>
                </c:pt>
                <c:pt idx="1">
                  <c:v>Human review</c:v>
                </c:pt>
                <c:pt idx="2">
                  <c:v>Rejected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4341</c:v>
                </c:pt>
                <c:pt idx="1">
                  <c:v>448</c:v>
                </c:pt>
                <c:pt idx="2">
                  <c:v>181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trustworthy</c:v>
                </c:pt>
              </c:strCache>
            </c:strRef>
          </c:tx>
          <c:spPr>
            <a:solidFill>
              <a:srgbClr val="DC2626"/>
            </a:solidFill>
          </c:spPr>
          <c:cat>
            <c:strRef>
              <c:f>Sheet1!$A$2:$A$4</c:f>
              <c:strCache>
                <c:ptCount val="3"/>
                <c:pt idx="0">
                  <c:v>Approved</c:v>
                </c:pt>
                <c:pt idx="1">
                  <c:v>Human review</c:v>
                </c:pt>
                <c:pt idx="2">
                  <c:v>Rejected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345</c:v>
                </c:pt>
                <c:pt idx="1">
                  <c:v>272</c:v>
                </c:pt>
                <c:pt idx="2">
                  <c:v>2173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TrustGate</c:v>
                </c:pt>
              </c:strCache>
            </c:strRef>
          </c:tx>
          <c:spPr>
            <a:ln w="38100">
              <a:solidFill>
                <a:srgbClr val="0FA3B1"/>
              </a:solidFill>
            </a:ln>
          </c:spPr>
          <c:marker>
            <c:symbol val="none"/>
          </c:marker>
          <c:xVal>
            <c:numRef>
              <c:f>Sheet1!$A$2:$A$156</c:f>
              <c:numCache>
                <c:formatCode>General</c:formatCode>
                <c:ptCount val="155"/>
                <c:pt idx="0">
                  <c:v>0.006443298969072165</c:v>
                </c:pt>
                <c:pt idx="1">
                  <c:v>0.01288659793814433</c:v>
                </c:pt>
                <c:pt idx="2">
                  <c:v>0.019329896907216496</c:v>
                </c:pt>
                <c:pt idx="3">
                  <c:v>0.02577319587628866</c:v>
                </c:pt>
                <c:pt idx="4">
                  <c:v>0.03221649484536082</c:v>
                </c:pt>
                <c:pt idx="5">
                  <c:v>0.03865979381443299</c:v>
                </c:pt>
                <c:pt idx="6">
                  <c:v>0.045103092783505154</c:v>
                </c:pt>
                <c:pt idx="7">
                  <c:v>0.05154639175257732</c:v>
                </c:pt>
                <c:pt idx="8">
                  <c:v>0.05798969072164949</c:v>
                </c:pt>
                <c:pt idx="9">
                  <c:v>0.06443298969072164</c:v>
                </c:pt>
                <c:pt idx="10">
                  <c:v>0.07087628865979381</c:v>
                </c:pt>
                <c:pt idx="11">
                  <c:v>0.07731958762886598</c:v>
                </c:pt>
                <c:pt idx="12">
                  <c:v>0.08376288659793814</c:v>
                </c:pt>
                <c:pt idx="13">
                  <c:v>0.09020618556701031</c:v>
                </c:pt>
                <c:pt idx="14">
                  <c:v>0.09664948453608248</c:v>
                </c:pt>
                <c:pt idx="15">
                  <c:v>0.10309278350515463</c:v>
                </c:pt>
                <c:pt idx="16">
                  <c:v>0.1095360824742268</c:v>
                </c:pt>
                <c:pt idx="17">
                  <c:v>0.11597938144329897</c:v>
                </c:pt>
                <c:pt idx="18">
                  <c:v>0.12242268041237113</c:v>
                </c:pt>
                <c:pt idx="19">
                  <c:v>0.12886597938144329</c:v>
                </c:pt>
                <c:pt idx="20">
                  <c:v>0.13530927835051546</c:v>
                </c:pt>
                <c:pt idx="21">
                  <c:v>0.14175257731958762</c:v>
                </c:pt>
                <c:pt idx="22">
                  <c:v>0.1481958762886598</c:v>
                </c:pt>
                <c:pt idx="23">
                  <c:v>0.15463917525773196</c:v>
                </c:pt>
                <c:pt idx="24">
                  <c:v>0.16108247422680413</c:v>
                </c:pt>
                <c:pt idx="25">
                  <c:v>0.16752577319587628</c:v>
                </c:pt>
                <c:pt idx="26">
                  <c:v>0.17396907216494845</c:v>
                </c:pt>
                <c:pt idx="27">
                  <c:v>0.18041237113402062</c:v>
                </c:pt>
                <c:pt idx="28">
                  <c:v>0.18685567010309279</c:v>
                </c:pt>
                <c:pt idx="29">
                  <c:v>0.19329896907216496</c:v>
                </c:pt>
                <c:pt idx="30">
                  <c:v>0.19974226804123713</c:v>
                </c:pt>
                <c:pt idx="31">
                  <c:v>0.20618556701030927</c:v>
                </c:pt>
                <c:pt idx="32">
                  <c:v>0.21262886597938144</c:v>
                </c:pt>
                <c:pt idx="33">
                  <c:v>0.2190721649484536</c:v>
                </c:pt>
                <c:pt idx="34">
                  <c:v>0.22551546391752578</c:v>
                </c:pt>
                <c:pt idx="35">
                  <c:v>0.23195876288659795</c:v>
                </c:pt>
                <c:pt idx="36">
                  <c:v>0.23840206185567012</c:v>
                </c:pt>
                <c:pt idx="37">
                  <c:v>0.24484536082474226</c:v>
                </c:pt>
                <c:pt idx="38">
                  <c:v>0.25128865979381443</c:v>
                </c:pt>
                <c:pt idx="39">
                  <c:v>0.25773195876288657</c:v>
                </c:pt>
                <c:pt idx="40">
                  <c:v>0.26417525773195877</c:v>
                </c:pt>
                <c:pt idx="41">
                  <c:v>0.2706185567010309</c:v>
                </c:pt>
                <c:pt idx="42">
                  <c:v>0.2770618556701031</c:v>
                </c:pt>
                <c:pt idx="43">
                  <c:v>0.28350515463917525</c:v>
                </c:pt>
                <c:pt idx="44">
                  <c:v>0.28994845360824745</c:v>
                </c:pt>
                <c:pt idx="45">
                  <c:v>0.2963917525773196</c:v>
                </c:pt>
                <c:pt idx="46">
                  <c:v>0.30283505154639173</c:v>
                </c:pt>
                <c:pt idx="47">
                  <c:v>0.30927835051546393</c:v>
                </c:pt>
                <c:pt idx="48">
                  <c:v>0.31572164948453607</c:v>
                </c:pt>
                <c:pt idx="49">
                  <c:v>0.32216494845360827</c:v>
                </c:pt>
                <c:pt idx="50">
                  <c:v>0.3286082474226804</c:v>
                </c:pt>
                <c:pt idx="51">
                  <c:v>0.33505154639175255</c:v>
                </c:pt>
                <c:pt idx="52">
                  <c:v>0.34149484536082475</c:v>
                </c:pt>
                <c:pt idx="53">
                  <c:v>0.3479381443298969</c:v>
                </c:pt>
                <c:pt idx="54">
                  <c:v>0.3543814432989691</c:v>
                </c:pt>
                <c:pt idx="55">
                  <c:v>0.36082474226804123</c:v>
                </c:pt>
                <c:pt idx="56">
                  <c:v>0.36726804123711343</c:v>
                </c:pt>
                <c:pt idx="57">
                  <c:v>0.37371134020618557</c:v>
                </c:pt>
                <c:pt idx="58">
                  <c:v>0.3801546391752577</c:v>
                </c:pt>
                <c:pt idx="59">
                  <c:v>0.3865979381443299</c:v>
                </c:pt>
                <c:pt idx="60">
                  <c:v>0.39304123711340205</c:v>
                </c:pt>
                <c:pt idx="61">
                  <c:v>0.39948453608247425</c:v>
                </c:pt>
                <c:pt idx="62">
                  <c:v>0.4059278350515464</c:v>
                </c:pt>
                <c:pt idx="63">
                  <c:v>0.41237113402061853</c:v>
                </c:pt>
                <c:pt idx="64">
                  <c:v>0.41881443298969073</c:v>
                </c:pt>
                <c:pt idx="65">
                  <c:v>0.4252577319587629</c:v>
                </c:pt>
                <c:pt idx="66">
                  <c:v>0.43170103092783507</c:v>
                </c:pt>
                <c:pt idx="67">
                  <c:v>0.4381443298969072</c:v>
                </c:pt>
                <c:pt idx="68">
                  <c:v>0.44458762886597936</c:v>
                </c:pt>
                <c:pt idx="69">
                  <c:v>0.45103092783505155</c:v>
                </c:pt>
                <c:pt idx="70">
                  <c:v>0.4574742268041237</c:v>
                </c:pt>
                <c:pt idx="71">
                  <c:v>0.4639175257731959</c:v>
                </c:pt>
                <c:pt idx="72">
                  <c:v>0.47036082474226804</c:v>
                </c:pt>
                <c:pt idx="73">
                  <c:v>0.47680412371134023</c:v>
                </c:pt>
                <c:pt idx="74">
                  <c:v>0.4832474226804124</c:v>
                </c:pt>
                <c:pt idx="75">
                  <c:v>0.4896907216494845</c:v>
                </c:pt>
                <c:pt idx="76">
                  <c:v>0.4961340206185567</c:v>
                </c:pt>
                <c:pt idx="77">
                  <c:v>0.5025773195876289</c:v>
                </c:pt>
                <c:pt idx="78">
                  <c:v>0.509020618556701</c:v>
                </c:pt>
                <c:pt idx="79">
                  <c:v>0.5154639175257731</c:v>
                </c:pt>
                <c:pt idx="80">
                  <c:v>0.5219072164948454</c:v>
                </c:pt>
                <c:pt idx="81">
                  <c:v>0.5283505154639175</c:v>
                </c:pt>
                <c:pt idx="82">
                  <c:v>0.5347938144329897</c:v>
                </c:pt>
                <c:pt idx="83">
                  <c:v>0.5412371134020618</c:v>
                </c:pt>
                <c:pt idx="84">
                  <c:v>0.5476804123711341</c:v>
                </c:pt>
                <c:pt idx="85">
                  <c:v>0.5541237113402062</c:v>
                </c:pt>
                <c:pt idx="86">
                  <c:v>0.5605670103092784</c:v>
                </c:pt>
                <c:pt idx="87">
                  <c:v>0.5670103092783505</c:v>
                </c:pt>
                <c:pt idx="88">
                  <c:v>0.5734536082474226</c:v>
                </c:pt>
                <c:pt idx="89">
                  <c:v>0.5798969072164949</c:v>
                </c:pt>
                <c:pt idx="90">
                  <c:v>0.586340206185567</c:v>
                </c:pt>
                <c:pt idx="91">
                  <c:v>0.5927835051546392</c:v>
                </c:pt>
                <c:pt idx="92">
                  <c:v>0.5992268041237113</c:v>
                </c:pt>
                <c:pt idx="93">
                  <c:v>0.6056701030927835</c:v>
                </c:pt>
                <c:pt idx="94">
                  <c:v>0.6121134020618557</c:v>
                </c:pt>
                <c:pt idx="95">
                  <c:v>0.6185567010309279</c:v>
                </c:pt>
                <c:pt idx="96">
                  <c:v>0.625</c:v>
                </c:pt>
                <c:pt idx="97">
                  <c:v>0.6314432989690721</c:v>
                </c:pt>
                <c:pt idx="98">
                  <c:v>0.6378865979381443</c:v>
                </c:pt>
                <c:pt idx="99">
                  <c:v>0.6443298969072165</c:v>
                </c:pt>
                <c:pt idx="100">
                  <c:v>0.6507731958762887</c:v>
                </c:pt>
                <c:pt idx="101">
                  <c:v>0.6572164948453608</c:v>
                </c:pt>
                <c:pt idx="102">
                  <c:v>0.663659793814433</c:v>
                </c:pt>
                <c:pt idx="103">
                  <c:v>0.6701030927835051</c:v>
                </c:pt>
                <c:pt idx="104">
                  <c:v>0.6765463917525774</c:v>
                </c:pt>
                <c:pt idx="105">
                  <c:v>0.6829896907216495</c:v>
                </c:pt>
                <c:pt idx="106">
                  <c:v>0.6894329896907216</c:v>
                </c:pt>
                <c:pt idx="107">
                  <c:v>0.6958762886597938</c:v>
                </c:pt>
                <c:pt idx="108">
                  <c:v>0.7023195876288659</c:v>
                </c:pt>
                <c:pt idx="109">
                  <c:v>0.7087628865979382</c:v>
                </c:pt>
                <c:pt idx="110">
                  <c:v>0.7152061855670103</c:v>
                </c:pt>
                <c:pt idx="111">
                  <c:v>0.7216494845360825</c:v>
                </c:pt>
                <c:pt idx="112">
                  <c:v>0.7280927835051546</c:v>
                </c:pt>
                <c:pt idx="113">
                  <c:v>0.7345360824742269</c:v>
                </c:pt>
                <c:pt idx="114">
                  <c:v>0.740979381443299</c:v>
                </c:pt>
                <c:pt idx="115">
                  <c:v>0.7474226804123711</c:v>
                </c:pt>
                <c:pt idx="116">
                  <c:v>0.7538659793814433</c:v>
                </c:pt>
                <c:pt idx="117">
                  <c:v>0.7603092783505154</c:v>
                </c:pt>
                <c:pt idx="118">
                  <c:v>0.7667525773195877</c:v>
                </c:pt>
                <c:pt idx="119">
                  <c:v>0.7731958762886598</c:v>
                </c:pt>
                <c:pt idx="120">
                  <c:v>0.779639175257732</c:v>
                </c:pt>
                <c:pt idx="121">
                  <c:v>0.7860824742268041</c:v>
                </c:pt>
                <c:pt idx="122">
                  <c:v>0.7925257731958762</c:v>
                </c:pt>
                <c:pt idx="123">
                  <c:v>0.7989690721649485</c:v>
                </c:pt>
                <c:pt idx="124">
                  <c:v>0.8054123711340206</c:v>
                </c:pt>
                <c:pt idx="125">
                  <c:v>0.8118556701030928</c:v>
                </c:pt>
                <c:pt idx="126">
                  <c:v>0.8182989690721649</c:v>
                </c:pt>
                <c:pt idx="127">
                  <c:v>0.8247422680412371</c:v>
                </c:pt>
                <c:pt idx="128">
                  <c:v>0.8311855670103093</c:v>
                </c:pt>
                <c:pt idx="129">
                  <c:v>0.8376288659793815</c:v>
                </c:pt>
                <c:pt idx="130">
                  <c:v>0.8440721649484536</c:v>
                </c:pt>
                <c:pt idx="131">
                  <c:v>0.8505154639175257</c:v>
                </c:pt>
                <c:pt idx="132">
                  <c:v>0.8569587628865979</c:v>
                </c:pt>
                <c:pt idx="133">
                  <c:v>0.8634020618556701</c:v>
                </c:pt>
                <c:pt idx="134">
                  <c:v>0.8698453608247423</c:v>
                </c:pt>
                <c:pt idx="135">
                  <c:v>0.8762886597938144</c:v>
                </c:pt>
                <c:pt idx="136">
                  <c:v>0.8827319587628866</c:v>
                </c:pt>
                <c:pt idx="137">
                  <c:v>0.8891752577319587</c:v>
                </c:pt>
                <c:pt idx="138">
                  <c:v>0.895618556701031</c:v>
                </c:pt>
                <c:pt idx="139">
                  <c:v>0.9020618556701031</c:v>
                </c:pt>
                <c:pt idx="140">
                  <c:v>0.9085051546391752</c:v>
                </c:pt>
                <c:pt idx="141">
                  <c:v>0.9149484536082474</c:v>
                </c:pt>
                <c:pt idx="142">
                  <c:v>0.9213917525773195</c:v>
                </c:pt>
                <c:pt idx="143">
                  <c:v>0.9278350515463918</c:v>
                </c:pt>
                <c:pt idx="144">
                  <c:v>0.9342783505154639</c:v>
                </c:pt>
                <c:pt idx="145">
                  <c:v>0.9407216494845361</c:v>
                </c:pt>
                <c:pt idx="146">
                  <c:v>0.9471649484536082</c:v>
                </c:pt>
                <c:pt idx="147">
                  <c:v>0.9536082474226805</c:v>
                </c:pt>
                <c:pt idx="148">
                  <c:v>0.9600515463917526</c:v>
                </c:pt>
                <c:pt idx="149">
                  <c:v>0.9664948453608248</c:v>
                </c:pt>
                <c:pt idx="150">
                  <c:v>0.9729381443298969</c:v>
                </c:pt>
                <c:pt idx="151">
                  <c:v>0.979381443298969</c:v>
                </c:pt>
                <c:pt idx="152">
                  <c:v>0.9858247422680413</c:v>
                </c:pt>
                <c:pt idx="153">
                  <c:v>0.9922680412371134</c:v>
                </c:pt>
                <c:pt idx="154">
                  <c:v>0.9987113402061856</c:v>
                </c:pt>
              </c:numCache>
            </c:numRef>
          </c:xVal>
          <c:yVal>
            <c:numRef>
              <c:f>Sheet1!$B$2:$B$156</c:f>
              <c:numCache>
                <c:formatCode>General</c:formatCode>
                <c:ptCount val="155"/>
                <c:pt idx="0">
                  <c:v>0.98</c:v>
                </c:pt>
                <c:pt idx="1">
                  <c:v>0.99</c:v>
                </c:pt>
                <c:pt idx="2">
                  <c:v>0.9933333333333333</c:v>
                </c:pt>
                <c:pt idx="3">
                  <c:v>0.995</c:v>
                </c:pt>
                <c:pt idx="4">
                  <c:v>0.996</c:v>
                </c:pt>
                <c:pt idx="5">
                  <c:v>0.9966666666666667</c:v>
                </c:pt>
                <c:pt idx="6">
                  <c:v>0.9971428571428571</c:v>
                </c:pt>
                <c:pt idx="7">
                  <c:v>0.9975</c:v>
                </c:pt>
                <c:pt idx="8">
                  <c:v>0.9822222222222222</c:v>
                </c:pt>
                <c:pt idx="9">
                  <c:v>0.984</c:v>
                </c:pt>
                <c:pt idx="10">
                  <c:v>0.9854545454545455</c:v>
                </c:pt>
                <c:pt idx="11">
                  <c:v>0.9866666666666667</c:v>
                </c:pt>
                <c:pt idx="12">
                  <c:v>0.9876923076923076</c:v>
                </c:pt>
                <c:pt idx="13">
                  <c:v>0.9885714285714285</c:v>
                </c:pt>
                <c:pt idx="14">
                  <c:v>0.9893333333333333</c:v>
                </c:pt>
                <c:pt idx="15">
                  <c:v>0.99</c:v>
                </c:pt>
                <c:pt idx="16">
                  <c:v>0.9905882352941177</c:v>
                </c:pt>
                <c:pt idx="17">
                  <c:v>0.98</c:v>
                </c:pt>
                <c:pt idx="18">
                  <c:v>0.9810526315789474</c:v>
                </c:pt>
                <c:pt idx="19">
                  <c:v>0.982</c:v>
                </c:pt>
                <c:pt idx="20">
                  <c:v>0.981904761904762</c:v>
                </c:pt>
                <c:pt idx="21">
                  <c:v>0.98</c:v>
                </c:pt>
                <c:pt idx="22">
                  <c:v>0.9808695652173913</c:v>
                </c:pt>
                <c:pt idx="23">
                  <c:v>0.9808333333333333</c:v>
                </c:pt>
                <c:pt idx="24">
                  <c:v>0.98</c:v>
                </c:pt>
                <c:pt idx="25">
                  <c:v>0.9807692307692307</c:v>
                </c:pt>
                <c:pt idx="26">
                  <c:v>0.98</c:v>
                </c:pt>
                <c:pt idx="27">
                  <c:v>0.9807142857142858</c:v>
                </c:pt>
                <c:pt idx="28">
                  <c:v>0.9813793103448276</c:v>
                </c:pt>
                <c:pt idx="29">
                  <c:v>0.982</c:v>
                </c:pt>
                <c:pt idx="30">
                  <c:v>0.9819354838709677</c:v>
                </c:pt>
                <c:pt idx="31">
                  <c:v>0.981875</c:v>
                </c:pt>
                <c:pt idx="32">
                  <c:v>0.9824242424242424</c:v>
                </c:pt>
                <c:pt idx="33">
                  <c:v>0.9776470588235294</c:v>
                </c:pt>
                <c:pt idx="34">
                  <c:v>0.9782857142857143</c:v>
                </c:pt>
                <c:pt idx="35">
                  <c:v>0.9727777777777777</c:v>
                </c:pt>
                <c:pt idx="36">
                  <c:v>0.9724324324324324</c:v>
                </c:pt>
                <c:pt idx="37">
                  <c:v>0.9673684210526315</c:v>
                </c:pt>
                <c:pt idx="38">
                  <c:v>0.9605128205128205</c:v>
                </c:pt>
                <c:pt idx="39">
                  <c:v>0.961</c:v>
                </c:pt>
                <c:pt idx="40">
                  <c:v>0.9604878048780487</c:v>
                </c:pt>
                <c:pt idx="41">
                  <c:v>0.96</c:v>
                </c:pt>
                <c:pt idx="42">
                  <c:v>0.9609302325581396</c:v>
                </c:pt>
                <c:pt idx="43">
                  <c:v>0.9613636363636363</c:v>
                </c:pt>
                <c:pt idx="44">
                  <c:v>0.9622222222222222</c:v>
                </c:pt>
                <c:pt idx="45">
                  <c:v>0.9626086956521739</c:v>
                </c:pt>
                <c:pt idx="46">
                  <c:v>0.9621276595744681</c:v>
                </c:pt>
                <c:pt idx="47">
                  <c:v>0.9625</c:v>
                </c:pt>
                <c:pt idx="48">
                  <c:v>0.9604081632653061</c:v>
                </c:pt>
                <c:pt idx="49">
                  <c:v>0.9592</c:v>
                </c:pt>
                <c:pt idx="50">
                  <c:v>0.96</c:v>
                </c:pt>
                <c:pt idx="51">
                  <c:v>0.96</c:v>
                </c:pt>
                <c:pt idx="52">
                  <c:v>0.959622641509434</c:v>
                </c:pt>
                <c:pt idx="53">
                  <c:v>0.96</c:v>
                </c:pt>
                <c:pt idx="54">
                  <c:v>0.96</c:v>
                </c:pt>
                <c:pt idx="55">
                  <c:v>0.96</c:v>
                </c:pt>
                <c:pt idx="56">
                  <c:v>0.9603508771929825</c:v>
                </c:pt>
                <c:pt idx="57">
                  <c:v>0.9593103448275863</c:v>
                </c:pt>
                <c:pt idx="58">
                  <c:v>0.9593220338983051</c:v>
                </c:pt>
                <c:pt idx="59">
                  <c:v>0.96</c:v>
                </c:pt>
                <c:pt idx="60">
                  <c:v>0.9606557377049181</c:v>
                </c:pt>
                <c:pt idx="61">
                  <c:v>0.9596774193548387</c:v>
                </c:pt>
                <c:pt idx="62">
                  <c:v>0.9603174603174603</c:v>
                </c:pt>
                <c:pt idx="63">
                  <c:v>0.960625</c:v>
                </c:pt>
                <c:pt idx="64">
                  <c:v>0.9606153846153846</c:v>
                </c:pt>
                <c:pt idx="65">
                  <c:v>0.9590909090909091</c:v>
                </c:pt>
                <c:pt idx="66">
                  <c:v>0.9597014925373134</c:v>
                </c:pt>
                <c:pt idx="67">
                  <c:v>0.9588235294117647</c:v>
                </c:pt>
                <c:pt idx="68">
                  <c:v>0.9594202898550724</c:v>
                </c:pt>
                <c:pt idx="69">
                  <c:v>0.96</c:v>
                </c:pt>
                <c:pt idx="70">
                  <c:v>0.959718309859155</c:v>
                </c:pt>
                <c:pt idx="71">
                  <c:v>0.9594444444444444</c:v>
                </c:pt>
                <c:pt idx="72">
                  <c:v>0.9586301369863014</c:v>
                </c:pt>
                <c:pt idx="73">
                  <c:v>0.9578378378378378</c:v>
                </c:pt>
                <c:pt idx="74">
                  <c:v>0.9573333333333334</c:v>
                </c:pt>
                <c:pt idx="75">
                  <c:v>0.9576315789473684</c:v>
                </c:pt>
                <c:pt idx="76">
                  <c:v>0.9576623376623377</c:v>
                </c:pt>
                <c:pt idx="77">
                  <c:v>0.9569230769230769</c:v>
                </c:pt>
                <c:pt idx="78">
                  <c:v>0.9554430379746836</c:v>
                </c:pt>
                <c:pt idx="79">
                  <c:v>0.95375</c:v>
                </c:pt>
                <c:pt idx="80">
                  <c:v>0.9508641975308642</c:v>
                </c:pt>
                <c:pt idx="81">
                  <c:v>0.9490243902439024</c:v>
                </c:pt>
                <c:pt idx="82">
                  <c:v>0.9472289156626506</c:v>
                </c:pt>
                <c:pt idx="83">
                  <c:v>0.9461904761904761</c:v>
                </c:pt>
                <c:pt idx="84">
                  <c:v>0.9463529411764706</c:v>
                </c:pt>
                <c:pt idx="85">
                  <c:v>0.9437209302325581</c:v>
                </c:pt>
                <c:pt idx="86">
                  <c:v>0.9425287356321839</c:v>
                </c:pt>
                <c:pt idx="87">
                  <c:v>0.9415909090909091</c:v>
                </c:pt>
                <c:pt idx="88">
                  <c:v>0.9406741573033708</c:v>
                </c:pt>
                <c:pt idx="89">
                  <c:v>0.9377777777777778</c:v>
                </c:pt>
                <c:pt idx="90">
                  <c:v>0.9331868131868132</c:v>
                </c:pt>
                <c:pt idx="91">
                  <c:v>0.9297826086956522</c:v>
                </c:pt>
                <c:pt idx="92">
                  <c:v>0.9273118279569893</c:v>
                </c:pt>
                <c:pt idx="93">
                  <c:v>0.926595744680851</c:v>
                </c:pt>
                <c:pt idx="94">
                  <c:v>0.9269473684210526</c:v>
                </c:pt>
                <c:pt idx="95">
                  <c:v>0.9241666666666667</c:v>
                </c:pt>
                <c:pt idx="96">
                  <c:v>0.9212371134020618</c:v>
                </c:pt>
                <c:pt idx="97">
                  <c:v>0.9175510204081633</c:v>
                </c:pt>
                <c:pt idx="98">
                  <c:v>0.9147474747474748</c:v>
                </c:pt>
                <c:pt idx="99">
                  <c:v>0.913</c:v>
                </c:pt>
                <c:pt idx="100">
                  <c:v>0.9100990099009901</c:v>
                </c:pt>
                <c:pt idx="101">
                  <c:v>0.9072549019607843</c:v>
                </c:pt>
                <c:pt idx="102">
                  <c:v>0.9064077669902912</c:v>
                </c:pt>
                <c:pt idx="103">
                  <c:v>0.9036538461538461</c:v>
                </c:pt>
                <c:pt idx="104">
                  <c:v>0.9007619047619048</c:v>
                </c:pt>
                <c:pt idx="105">
                  <c:v>0.8960377358490565</c:v>
                </c:pt>
                <c:pt idx="106">
                  <c:v>0.8895327102803738</c:v>
                </c:pt>
                <c:pt idx="107">
                  <c:v>0.8862962962962962</c:v>
                </c:pt>
                <c:pt idx="108">
                  <c:v>0.8814678899082569</c:v>
                </c:pt>
                <c:pt idx="109">
                  <c:v>0.8761818181818182</c:v>
                </c:pt>
                <c:pt idx="110">
                  <c:v>0.870990990990991</c:v>
                </c:pt>
                <c:pt idx="111">
                  <c:v>0.8644642857142857</c:v>
                </c:pt>
                <c:pt idx="112">
                  <c:v>0.8571681415929203</c:v>
                </c:pt>
                <c:pt idx="113">
                  <c:v>0.85</c:v>
                </c:pt>
                <c:pt idx="114">
                  <c:v>0.8429565217391304</c:v>
                </c:pt>
                <c:pt idx="115">
                  <c:v>0.8368965517241379</c:v>
                </c:pt>
                <c:pt idx="116">
                  <c:v>0.8316239316239317</c:v>
                </c:pt>
                <c:pt idx="117">
                  <c:v>0.8269491525423729</c:v>
                </c:pt>
                <c:pt idx="118">
                  <c:v>0.8220168067226891</c:v>
                </c:pt>
                <c:pt idx="119">
                  <c:v>0.8163333333333334</c:v>
                </c:pt>
                <c:pt idx="120">
                  <c:v>0.8099173553719008</c:v>
                </c:pt>
                <c:pt idx="121">
                  <c:v>0.8037704918032786</c:v>
                </c:pt>
                <c:pt idx="122">
                  <c:v>0.7972357723577236</c:v>
                </c:pt>
                <c:pt idx="123">
                  <c:v>0.7917741935483871</c:v>
                </c:pt>
                <c:pt idx="124">
                  <c:v>0.78704</c:v>
                </c:pt>
                <c:pt idx="125">
                  <c:v>0.782063492063492</c:v>
                </c:pt>
                <c:pt idx="126">
                  <c:v>0.7765354330708661</c:v>
                </c:pt>
                <c:pt idx="127">
                  <c:v>0.77046875</c:v>
                </c:pt>
                <c:pt idx="128">
                  <c:v>0.7644961240310078</c:v>
                </c:pt>
                <c:pt idx="129">
                  <c:v>0.7587692307692308</c:v>
                </c:pt>
                <c:pt idx="130">
                  <c:v>0.7534351145038168</c:v>
                </c:pt>
                <c:pt idx="131">
                  <c:v>0.7477272727272727</c:v>
                </c:pt>
                <c:pt idx="132">
                  <c:v>0.7421052631578947</c:v>
                </c:pt>
                <c:pt idx="133">
                  <c:v>0.7365671641791045</c:v>
                </c:pt>
                <c:pt idx="134">
                  <c:v>0.7312592592592593</c:v>
                </c:pt>
                <c:pt idx="135">
                  <c:v>0.726764705882353</c:v>
                </c:pt>
                <c:pt idx="136">
                  <c:v>0.7214598540145986</c:v>
                </c:pt>
                <c:pt idx="137">
                  <c:v>0.7163768115942029</c:v>
                </c:pt>
                <c:pt idx="138">
                  <c:v>0.7113669064748201</c:v>
                </c:pt>
                <c:pt idx="139">
                  <c:v>0.7067142857142857</c:v>
                </c:pt>
                <c:pt idx="140">
                  <c:v>0.7017021276595745</c:v>
                </c:pt>
                <c:pt idx="141">
                  <c:v>0.6967605633802817</c:v>
                </c:pt>
                <c:pt idx="142">
                  <c:v>0.6918881118881118</c:v>
                </c:pt>
                <c:pt idx="143">
                  <c:v>0.6875</c:v>
                </c:pt>
                <c:pt idx="144">
                  <c:v>0.6827586206896552</c:v>
                </c:pt>
                <c:pt idx="145">
                  <c:v>0.6783561643835616</c:v>
                </c:pt>
                <c:pt idx="146">
                  <c:v>0.6742857142857143</c:v>
                </c:pt>
                <c:pt idx="147">
                  <c:v>0.67</c:v>
                </c:pt>
                <c:pt idx="148">
                  <c:v>0.6659060402684563</c:v>
                </c:pt>
                <c:pt idx="149">
                  <c:v>0.6614666666666666</c:v>
                </c:pt>
                <c:pt idx="150">
                  <c:v>0.6581456953642384</c:v>
                </c:pt>
                <c:pt idx="151">
                  <c:v>0.6539473684210526</c:v>
                </c:pt>
                <c:pt idx="152">
                  <c:v>0.6496732026143791</c:v>
                </c:pt>
                <c:pt idx="153">
                  <c:v>0.6454545454545455</c:v>
                </c:pt>
                <c:pt idx="154">
                  <c:v>0.6412903225806451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Sheet1!$B$158</c:f>
              <c:strCache>
                <c:ptCount val="1"/>
                <c:pt idx="0">
                  <c:v>Visible-test rule</c:v>
                </c:pt>
              </c:strCache>
            </c:strRef>
          </c:tx>
          <c:spPr>
            <a:ln w="25400">
              <a:solidFill>
                <a:srgbClr val="94A3B8"/>
              </a:solidFill>
              <a:prstDash val="dash"/>
            </a:ln>
          </c:spPr>
          <c:marker>
            <c:symbol val="none"/>
          </c:marker>
          <c:xVal>
            <c:numRef>
              <c:f>Sheet1!$A$159:$A$160</c:f>
              <c:numCache>
                <c:formatCode>General</c:formatCode>
                <c:ptCount val="2"/>
                <c:pt idx="0">
                  <c:v>0.0</c:v>
                </c:pt>
                <c:pt idx="1">
                  <c:v>1.0</c:v>
                </c:pt>
              </c:numCache>
            </c:numRef>
          </c:xVal>
          <c:yVal>
            <c:numRef>
              <c:f>Sheet1!$B$159:$B$160</c:f>
              <c:numCache>
                <c:formatCode>General</c:formatCode>
                <c:ptCount val="2"/>
                <c:pt idx="0">
                  <c:v>0.8721544345292297</c:v>
                </c:pt>
                <c:pt idx="1">
                  <c:v>0.8721544345292297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Sheet1!$B$162</c:f>
              <c:strCache>
                <c:ptCount val="1"/>
                <c:pt idx="0">
                  <c:v>95% target</c:v>
                </c:pt>
              </c:strCache>
            </c:strRef>
          </c:tx>
          <c:spPr>
            <a:ln w="19050">
              <a:solidFill>
                <a:srgbClr val="DC2626"/>
              </a:solidFill>
              <a:prstDash val="dash"/>
            </a:ln>
          </c:spPr>
          <c:marker>
            <c:symbol val="none"/>
          </c:marker>
          <c:xVal>
            <c:numRef>
              <c:f>Sheet1!$A$163:$A$164</c:f>
              <c:numCache>
                <c:formatCode>General</c:formatCode>
                <c:ptCount val="2"/>
                <c:pt idx="0">
                  <c:v>0.0</c:v>
                </c:pt>
                <c:pt idx="1">
                  <c:v>1.0</c:v>
                </c:pt>
              </c:numCache>
            </c:numRef>
          </c:xVal>
          <c:yVal>
            <c:numRef>
              <c:f>Sheet1!$B$163:$B$164</c:f>
              <c:numCache>
                <c:formatCode>General</c:formatCode>
                <c:ptCount val="2"/>
                <c:pt idx="0">
                  <c:v>0.95</c:v>
                </c:pt>
                <c:pt idx="1">
                  <c:v>0.95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0"/>
          <c:min val="0.0"/>
        </c:scaling>
        <c:delete val="0"/>
        <c:axPos val="b"/>
        <c:majorGridlines>
          <c:spPr>
            <a:ln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/>
                  <a:t>share of solutions approved automatically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29643912"/>
        <c:crosses val="autoZero"/>
        <c:crossBetween val="midCat"/>
      </c:valAx>
      <c:valAx>
        <c:axId val="-2129643912"/>
        <c:scaling>
          <c:orientation val="minMax"/>
          <c:max val="1.0"/>
          <c:min val="0.6"/>
        </c:scaling>
        <c:delete val="0"/>
        <c:axPos val="l"/>
        <c:majorGridlines>
          <c:spPr>
            <a:ln>
              <a:solidFill>
                <a:srgbClr val="E5E7E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/>
                  <a:t>approval precision</a:t>
                </a:r>
              </a:p>
            </c:rich>
          </c:tx>
          <c:layout/>
          <c:overlay val="0"/>
        </c:title>
        <c:numFmt formatCode="0%" sourceLinked="0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agreement</c:v>
                </c:pt>
              </c:strCache>
            </c:strRef>
          </c:tx>
          <c:dPt>
            <c:idx val="0"/>
            <c:spPr>
              <a:solidFill>
                <a:srgbClr val="16A34A"/>
              </a:solidFill>
            </c:spPr>
          </c:dPt>
          <c:dPt>
            <c:idx val="1"/>
            <c:spPr>
              <a:solidFill>
                <a:srgbClr val="DC2626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DC2626"/>
              </a:solidFill>
            </c:spPr>
          </c:dPt>
          <c:dPt>
            <c:idx val="4"/>
            <c:spPr>
              <a:solidFill>
                <a:srgbClr val="16A34A"/>
              </a:solidFill>
            </c:spPr>
          </c:dPt>
          <c:cat>
            <c:strRef>
              <c:f>Sheet1!$A$2:$A$6</c:f>
              <c:strCache>
                <c:ptCount val="5"/>
                <c:pt idx="0">
                  <c:v>pass (n=104)</c:v>
                </c:pt>
                <c:pt idx="1">
                  <c:v>wrong output (n=42)</c:v>
                </c:pt>
                <c:pt idx="2">
                  <c:v>runtime error (n=6)</c:v>
                </c:pt>
                <c:pt idx="3">
                  <c:v>timeout (n=6)</c:v>
                </c:pt>
                <c:pt idx="4">
                  <c:v>syntax error (n=6)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0.9711538461538461</c:v>
                </c:pt>
                <c:pt idx="1">
                  <c:v>0.6904761904761905</c:v>
                </c:pt>
                <c:pt idx="2">
                  <c:v>0.8333333333333334</c:v>
                </c:pt>
                <c:pt idx="3">
                  <c:v>0.6666666666666666</c:v>
                </c:pt>
                <c:pt idx="4">
                  <c:v>1.0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/>
        <c:axPos val="b"/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TrustGate predicts whether a piece of AI-generated code can be trusted, and turns that into three actions. This mid-term covers the full MBPP run with gpt-4o-mini, the trust model, the three-way decision, and a real human validation of our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 generation scales code output, but review does not scale. The two numbers on the right come from our own data: about one in ten solutions that pass the visible test are silently wrong, and a careful human reviewer approved about a third of the wrong-output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gate takes the code plus what a developer would have before running anything in production: the task, one example test, and other attempts at the same task. It computes signals, a calibrated probability, and two thresholds chosen for 95% precision on a calibration set turn that into three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SWE-Bench is the right long-term target, but there is no public set of labelled agent attempts, and each evaluation needs a full Docker harness. We kept its key ideas and moved to a benchmark where we can generate and grade tens of thousands of attempts.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MBPP gives us about a thousand small Python tasks with tests. We show the model one test and keep the rest hidden. Varying temperature and prompt style, following the SWE-Bench harness advice, produces 40 attempts per problem for under three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the pipeline stages, all reproducible from the command line. Bottom: how our exploration evolved. The 20-problem pilot was too easy. Adding prompt styles produced realistic failures, and inspecting step_by_step crashes revealed that the model appended its own test code, which we now strip before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69% of all solutions are trustworthy. A quarter of solutions that pass the visible test still fail, and the slice that matters most is silent failures: over three thousand solutions that look fine on the example but fail hidden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Varying the prompt was far more useful than varying temperature for producing realistic failures. Without the example test, the model guesses the input format and fails visibly; with it, failures that remain are more often silent.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most problems are either always or never solved, which is why we split by problem. Right: the visible test and agreement between independent attempts are the strong signals. Code-structure features add little; model confidence is a weak signal for this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models are trained on 580 problems and evaluated on 194 problems they never saw. The calibrated random forest was selected by grouped cross-validation. At one cutoff, the F1 scores look similar, but ranking quality is much higher, which matters for deciding what to approve and what to send to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code is decided automatically: about 60% approved and 30% rejected, with 9% sent to a human. Among silent failures, which the visible-test rule would approve every time, TrustGate stops about half. Approval precision is 92.6%, short of the 95% target we set on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curve shows the honest trade-off. Approving the most confident half of the code gives about 96% precision; approving 60% gives 92.6%. The visible-test rule sits flat at 87%. Choosing thresholds more robustly is our main technical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Kappa of 0.74 is substantial agreement, so our execution-based labels are credible. The interesting part is where we disagree: almost always the human approved code the tests reject, mostly wrong-output cases that look plausible. A few strict-human cases point to questionable benchmark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next step follows from a measured result. The top priority is the decision rule, since we missed the 95% precision target. Then stronger tests and more diverse models, and finally moving the same pipeline toward repository-level, software-factory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Summary: passing the example is not enough, combining signals ranks code much better, the three-way gate catches half the silent failures at a small review cost, and a real human review supports our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669B-AF9E-6145-81D2-0533234A9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387EB-2E48-9E2D-95F4-5718A05E0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0031E-326B-C273-FDC5-9BFCADD19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E182A-3FB3-24A9-7FEC-1FEE82A5B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CBF31-7BB6-B496-10AF-E82C86D9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17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9F35-33C0-C3B0-3F13-E9B45A25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3283C-16D4-2B7E-3B5A-4BEAE9B2B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A5A73-F10C-CBBF-3B1C-D0562799F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20106-D0C5-345E-B547-AD5EBFC9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631A6-A795-2F71-5BF7-A95D66EA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8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C5B29-E447-B534-6A5B-EB3E2C20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D3CAC-8F16-9DBC-0CC4-2DC217ABC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C1485-E55A-F4CF-2735-BBF9A5EC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4C90F-AE01-8D05-BDE8-E5D09521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3B479-D497-1733-7885-A2F7FFA9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85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136DD-FB8A-2FC7-4756-E20F58DF3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45CDF-0655-D726-80A8-B8B30138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C735B-2405-7E93-E4E7-1E42B0031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FEF31-9090-E663-B03C-C60D644E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2A729-0925-5C76-1E15-DB778C0D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C5DA40-5B04-A242-8857-40EF1E8B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2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E1DA7-967B-0965-4868-2ED2CEA1E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FF11E-D106-8C81-2F4C-6C8453526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8B8A8-1BB9-AFE2-D0F9-9D4122C7B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5158DF-51E2-5F2D-599C-AEF3B6D89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28A029-3973-6E5A-0CEB-442758A42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0024AE-C261-F208-4AB8-31247C3E6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3AB1DE-6E21-36BC-03B6-89420FB1B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BBB484-C501-0399-A152-59B5D8A9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38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AD6A-63AA-3590-3DD6-B7452322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979A0-CBCF-94CE-EC52-CFB9B0511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429B2-D1F9-F757-35B6-9D6ACDBD9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45D29F-E6A1-2954-C462-DDF635BBA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72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2A0B6-CBC8-07C4-FCC5-D850DC83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8EB146-227A-C7A1-56CF-0165CAFDA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CEE83-CE99-18B8-11E5-93469E569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3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7EDC-1AEB-CE8F-8267-CB4EA9D0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BC2AE-24EA-82F9-5CC2-065CC4DD4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C4FC7-E3CB-AB1B-A908-ADA655A93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CEA66-DBBA-93FF-D931-86E4646EA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53DAD-0DE6-D2E8-1166-A2BDA274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4E02-DEF3-DECF-959E-7892D51C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8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063D8-E3FB-448D-8292-65C44F8F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22791-01A2-2BE1-DD96-3FFB6DA5565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2E531A-0947-909A-7AA5-3AB62E3AD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72450-0794-F3F1-C598-DAD37755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A9998-6CF7-D44D-A9CA-FDC509794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741BF-6A11-4ACF-73B0-74E69C722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68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C0EB5-613A-1AEA-5AD7-76BC5EAF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27084-C523-84FA-629C-9DECD3C3C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449FD-07AE-E624-167A-302E09D54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9C30C-6338-7872-7474-8EA6CAE38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C76C0-4E7F-D2A8-10BF-0A16FA94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3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B300B4-0433-C193-2200-63AA425BF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91380-317C-E752-7993-4904FEABC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43426-BFDA-0B89-CC61-CAB160D3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6ADF1-600B-0CCA-8AC7-72FDD49D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693FB-DAD2-A508-AB51-6BF1D36C7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153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516CF9-A4C6-2508-F2A3-F8B9CC513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A90B4-D6F9-22F2-DEDC-9FD03C4D5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0FD9B-006C-2861-61F4-BAB3326674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66048-5213-4889-A043-053D714841A6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E2A23-1769-CD33-13EB-16D66D731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18AAC-04C9-0D04-C4E9-DA5FCFC9C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23F885-891C-45B6-B68D-DCF9C1063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69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A3B1"/>
                </a:solidFill>
                <a:latin typeface="Calibri"/>
              </a:rPr>
              <a:t>MID-TERM PROGRESS REVIEW  ·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6858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Calibri"/>
              </a:rPr>
              <a:t>Trust</a:t>
            </a:r>
            <a:r>
              <a:rPr sz="7200" b="1" i="0">
                <a:solidFill>
                  <a:srgbClr val="0FA3B1"/>
                </a:solidFill>
                <a:latin typeface="Calibri"/>
              </a:rPr>
              <a:t>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67665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CBD5E1"/>
                </a:solidFill>
                <a:latin typeface="Calibri"/>
              </a:rPr>
              <a:t>A trust gate for AI-generated code: approve it, reject it, or send it to a human, using signals grounded in execution rather than AI judgement.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1097280" cy="4572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67665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Hatem El-Sebaaly  ·  Shamik Bera  ·  Connor Westcott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968 MBPP problems  ·  38,720 gpt-4o-mini solutions  ·  42 trust signals  ·  real human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41732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4A3B8"/>
                </a:solidFill>
                <a:latin typeface="Calibri"/>
              </a:rPr>
              <a:t>EVERY CANDIDATE GETS ONE OF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965960"/>
            <a:ext cx="3246120" cy="6400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42615"/>
            <a:ext cx="3246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60.4% of held-out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3108960"/>
            <a:ext cx="3246120" cy="6400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NEEDS HUMAN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85615"/>
            <a:ext cx="3246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9.3% of held-out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251960"/>
            <a:ext cx="3246120" cy="6400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928616"/>
            <a:ext cx="3246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30.3% of held-out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713232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60020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800" b="1">
                <a:solidFill>
                  <a:srgbClr val="1F2937"/>
                </a:solidFill>
                <a:latin typeface="Calibri"/>
              </a:rPr>
              <a:t>Agentic code generation is arriving in software factories. </a:t>
            </a:r>
            <a:r>
              <a:rPr sz="1800" b="0">
                <a:solidFill>
                  <a:srgbClr val="1F2937"/>
                </a:solidFill>
                <a:latin typeface="Calibri"/>
              </a:rPr>
              <a:t>Agents write and merge code at a pace no review team can match.</a:t>
            </a:r>
          </a:p>
          <a:p>
            <a:pPr marL="274320" indent="-274320">
              <a:spcAft>
                <a:spcPts val="12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800" b="1">
                <a:solidFill>
                  <a:srgbClr val="1F2937"/>
                </a:solidFill>
                <a:latin typeface="Calibri"/>
              </a:rPr>
              <a:t>Generated code carries hidden costs:</a:t>
            </a:r>
            <a:r>
              <a:rPr sz="1800" b="0">
                <a:solidFill>
                  <a:srgbClr val="1F2937"/>
                </a:solidFill>
                <a:latin typeface="Calibri"/>
              </a:rPr>
              <a:t/>
            </a:r>
          </a:p>
          <a:p>
            <a:pPr marL="548640" indent="-228600">
              <a:spcAft>
                <a:spcPts val="600"/>
              </a:spcAft>
              <a:buClr>
                <a:srgbClr val="0FA3B1"/>
              </a:buClr>
              <a:buSzPct val="100000"/>
              <a:buFont typeface="Arial"/>
              <a:buChar char="–"/>
            </a:pPr>
            <a:r>
              <a:rPr sz="1600" b="0">
                <a:solidFill>
                  <a:srgbClr val="6B7280"/>
                </a:solidFill>
                <a:latin typeface="Calibri"/>
              </a:rPr>
              <a:t>Technical debt: wrappers around functions or APIs that already exist, duplicated logic</a:t>
            </a:r>
          </a:p>
          <a:p>
            <a:pPr marL="548640" indent="-228600">
              <a:spcAft>
                <a:spcPts val="600"/>
              </a:spcAft>
              <a:buClr>
                <a:srgbClr val="0FA3B1"/>
              </a:buClr>
              <a:buSzPct val="100000"/>
              <a:buFont typeface="Arial"/>
              <a:buChar char="–"/>
            </a:pPr>
            <a:r>
              <a:rPr sz="1600" b="0">
                <a:solidFill>
                  <a:srgbClr val="6B7280"/>
                </a:solidFill>
                <a:latin typeface="Calibri"/>
              </a:rPr>
              <a:t>Security vulnerabilities: unsafe calls, injection, weak crypto</a:t>
            </a:r>
          </a:p>
          <a:p>
            <a:pPr marL="548640" indent="-228600">
              <a:spcAft>
                <a:spcPts val="600"/>
              </a:spcAft>
              <a:buClr>
                <a:srgbClr val="0FA3B1"/>
              </a:buClr>
              <a:buSzPct val="100000"/>
              <a:buFont typeface="Arial"/>
              <a:buChar char="–"/>
            </a:pPr>
            <a:r>
              <a:rPr sz="1600" b="0">
                <a:solidFill>
                  <a:srgbClr val="6B7280"/>
                </a:solidFill>
                <a:latin typeface="Calibri"/>
              </a:rPr>
              <a:t>Silent failures: code that passes the example it was shown, then breaks on real inputs</a:t>
            </a:r>
          </a:p>
          <a:p>
            <a:pPr marL="274320" indent="-274320">
              <a:spcAft>
                <a:spcPts val="12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800" b="1">
                <a:solidFill>
                  <a:srgbClr val="1F2937"/>
                </a:solidFill>
                <a:latin typeface="Calibri"/>
              </a:rPr>
              <a:t>Today the gate is binary and weak: </a:t>
            </a:r>
            <a:r>
              <a:rPr sz="1800" b="0">
                <a:solidFill>
                  <a:srgbClr val="1F2937"/>
                </a:solidFill>
                <a:latin typeface="Calibri"/>
              </a:rPr>
              <a:t>"does it pass the tests I can see?" or a tired human reviewer.</a:t>
            </a:r>
          </a:p>
          <a:p>
            <a:pPr marL="274320" indent="-274320">
              <a:spcAft>
                <a:spcPts val="12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800" b="1">
                <a:solidFill>
                  <a:srgbClr val="1F2937"/>
                </a:solidFill>
                <a:latin typeface="Calibri"/>
              </a:rPr>
              <a:t>The question: </a:t>
            </a:r>
            <a:r>
              <a:rPr sz="1800" b="0">
                <a:solidFill>
                  <a:srgbClr val="1F2937"/>
                </a:solidFill>
                <a:latin typeface="Calibri"/>
              </a:rPr>
              <a:t>can we tell, before deployment, which AI code is safe to merge automatically?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600200"/>
            <a:ext cx="4233672" cy="4526280"/>
          </a:xfrm>
          <a:prstGeom prst="roundRect">
            <a:avLst>
              <a:gd name="adj" fmla="val 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78308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WHAT WE MEASURED ON MBPP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48840"/>
            <a:ext cx="3657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10.7%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3017520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BD5E1"/>
                </a:solidFill>
                <a:latin typeface="Calibri"/>
              </a:rPr>
              <a:t>of gpt-4o-mini solutions that pass the visible test still fail the hidden tests (3,127 silent failures)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3931920"/>
            <a:ext cx="3566160" cy="10972"/>
          </a:xfrm>
          <a:prstGeom prst="rect">
            <a:avLst/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4069080"/>
            <a:ext cx="3657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59E0B"/>
                </a:solidFill>
                <a:latin typeface="Calibri"/>
              </a:rPr>
              <a:t>31%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4937760"/>
            <a:ext cx="3657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BD5E1"/>
                </a:solidFill>
                <a:latin typeface="Calibri"/>
              </a:rPr>
              <a:t>of wrong-output solutions were approved by our human reviewer working blind: review alone is not enough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TrustGate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A gated mechanism that scores how trustworthy AI-generated code is, and acts on the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011680"/>
            <a:ext cx="2103120" cy="2377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A3B1"/>
                </a:solidFill>
                <a:latin typeface="Calibri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1874519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AI-generated code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Problem statement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One visible example test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Sibling attempts at the same task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71800" y="3017520"/>
            <a:ext cx="411480" cy="34747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40" y="2011680"/>
            <a:ext cx="3154680" cy="2377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14884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A3B1"/>
                </a:solidFill>
                <a:latin typeface="Calibri"/>
              </a:rPr>
              <a:t>TRUST SIGNALS (42)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6888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3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00" b="0">
                <a:solidFill>
                  <a:srgbClr val="1F2937"/>
                </a:solidFill>
                <a:latin typeface="Calibri"/>
              </a:rPr>
              <a:t>Visible test pass / fail</a:t>
            </a:r>
          </a:p>
          <a:p>
            <a:pPr marL="274320" indent="-274320">
              <a:spcAft>
                <a:spcPts val="3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00" b="0">
                <a:solidFill>
                  <a:srgbClr val="1F2937"/>
                </a:solidFill>
                <a:latin typeface="Calibri"/>
              </a:rPr>
              <a:t>Agreement with sibling attempts</a:t>
            </a:r>
          </a:p>
          <a:p>
            <a:pPr marL="274320" indent="-274320">
              <a:spcAft>
                <a:spcPts val="3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00" b="0">
                <a:solidFill>
                  <a:srgbClr val="1F2937"/>
                </a:solidFill>
                <a:latin typeface="Calibri"/>
              </a:rPr>
              <a:t>Ruff lint + Bandit security</a:t>
            </a:r>
          </a:p>
          <a:p>
            <a:pPr marL="274320" indent="-274320">
              <a:spcAft>
                <a:spcPts val="3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00" b="0">
                <a:solidFill>
                  <a:srgbClr val="1F2937"/>
                </a:solidFill>
                <a:latin typeface="Calibri"/>
              </a:rPr>
              <a:t>AST size, complexity (radon)</a:t>
            </a:r>
          </a:p>
          <a:p>
            <a:pPr marL="274320" indent="-274320">
              <a:spcAft>
                <a:spcPts val="3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00" b="0">
                <a:solidFill>
                  <a:srgbClr val="1F2937"/>
                </a:solidFill>
                <a:latin typeface="Calibri"/>
              </a:rPr>
              <a:t>Model token confidence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793992" y="3017520"/>
            <a:ext cx="411480" cy="34747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42631" y="2011680"/>
            <a:ext cx="1783080" cy="237744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148840"/>
            <a:ext cx="1645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FA3B1"/>
                </a:solidFill>
                <a:latin typeface="Calibri"/>
              </a:rPr>
              <a:t>TRUST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606040"/>
            <a:ext cx="16459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474720"/>
            <a:ext cx="16459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calibrated random forest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3017520"/>
            <a:ext cx="411480" cy="347472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0" y="2011680"/>
            <a:ext cx="1856231" cy="5029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APPROVED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514600"/>
            <a:ext cx="1856231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p ≥ 0.79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2834640"/>
            <a:ext cx="1856231" cy="5029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HUMAN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3337560"/>
            <a:ext cx="1856231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in between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3657600"/>
            <a:ext cx="1856231" cy="5029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REJECTED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160520"/>
            <a:ext cx="1856231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p &lt; 0.47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800600"/>
            <a:ext cx="3520440" cy="1280160"/>
          </a:xfrm>
          <a:prstGeom prst="roundRect">
            <a:avLst>
              <a:gd name="adj" fmla="val 12000"/>
            </a:avLst>
          </a:prstGeom>
          <a:solidFill>
            <a:srgbClr val="E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920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Ground truth from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25780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Labels come from hidden tests plus Bandit, never from an AI judge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800600"/>
            <a:ext cx="3520440" cy="1280160"/>
          </a:xfrm>
          <a:prstGeom prst="roundRect">
            <a:avLst>
              <a:gd name="adj" fmla="val 12000"/>
            </a:avLst>
          </a:prstGeom>
          <a:solidFill>
            <a:srgbClr val="E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48920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No leakage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25780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Hidden tests grade the gate; they are never used as features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2" y="4800600"/>
            <a:ext cx="3520440" cy="1280160"/>
          </a:xfrm>
          <a:prstGeom prst="roundRect">
            <a:avLst>
              <a:gd name="adj" fmla="val 12000"/>
            </a:avLst>
          </a:prstGeom>
          <a:solidFill>
            <a:srgbClr val="E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48920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F3A"/>
                </a:solidFill>
                <a:latin typeface="Calibri"/>
              </a:rPr>
              <a:t>Humans validate, not train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5257800"/>
            <a:ext cx="320040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2937"/>
                </a:solidFill>
                <a:latin typeface="Calibri"/>
              </a:rPr>
              <a:t>A blind human review checks the labels with Cohen's kappa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DATA · FIRST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Data – SWE-Bench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Our original target: real GitHub issues, but no ready-made data to learn trust 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82880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828800"/>
            <a:ext cx="3520440" cy="8229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7" y="205740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What SWE-Bench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7" y="260604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500" b="0">
                <a:solidFill>
                  <a:srgbClr val="1F2937"/>
                </a:solidFill>
                <a:latin typeface="Calibri"/>
              </a:rPr>
              <a:t>2,294 task instances from real GitHub issues in 12 popular Python repos</a:t>
            </a:r>
          </a:p>
          <a:p>
            <a:pPr marL="274320" indent="-274320">
              <a:spcAft>
                <a:spcPts val="10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500" b="0">
                <a:solidFill>
                  <a:srgbClr val="1F2937"/>
                </a:solidFill>
                <a:latin typeface="Calibri"/>
              </a:rPr>
              <a:t>Each task: a repo snapshot, an issue, and the tests that the real fix makes pass</a:t>
            </a:r>
          </a:p>
          <a:p>
            <a:pPr marL="274320" indent="-274320">
              <a:spcAft>
                <a:spcPts val="10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500" b="0">
                <a:solidFill>
                  <a:srgbClr val="1F2937"/>
                </a:solidFill>
                <a:latin typeface="Calibri"/>
              </a:rPr>
              <a:t>The standard benchmark for coding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82880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828800"/>
            <a:ext cx="3520440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05740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Why we moved away (for now)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0604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500" b="0">
                <a:solidFill>
                  <a:srgbClr val="1F2937"/>
                </a:solidFill>
                <a:latin typeface="Calibri"/>
              </a:rPr>
              <a:t>No labelled agent outputs are readily available: we would have to generate them ourselves</a:t>
            </a:r>
          </a:p>
          <a:p>
            <a:pPr marL="274320" indent="-274320">
              <a:spcAft>
                <a:spcPts val="10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500" b="0">
                <a:solidFill>
                  <a:srgbClr val="1F2937"/>
                </a:solidFill>
                <a:latin typeface="Calibri"/>
              </a:rPr>
              <a:t>Every evaluation needs the harness: repo checkout plus a Docker environment per task</a:t>
            </a:r>
          </a:p>
          <a:p>
            <a:pPr marL="274320" indent="-274320">
              <a:spcAft>
                <a:spcPts val="10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500" b="0">
                <a:solidFill>
                  <a:srgbClr val="1F2937"/>
                </a:solidFill>
                <a:latin typeface="Calibri"/>
              </a:rPr>
              <a:t>Slow and costly per sample: too few samples to train a classifier in a semester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828800"/>
            <a:ext cx="3520440" cy="420624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828800"/>
            <a:ext cx="3520440" cy="822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2" y="205740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1F3A"/>
                </a:solidFill>
                <a:latin typeface="Calibri"/>
              </a:rPr>
              <a:t>What we kept from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60604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500" b="0">
                <a:solidFill>
                  <a:srgbClr val="1F2937"/>
                </a:solidFill>
                <a:latin typeface="Calibri"/>
              </a:rPr>
              <a:t>The harness idea: vary the LLM configuration (model, temperature, tokens, prompt) to get diverse candidates</a:t>
            </a:r>
          </a:p>
          <a:p>
            <a:pPr marL="274320" indent="-274320">
              <a:spcAft>
                <a:spcPts val="10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500" b="0">
                <a:solidFill>
                  <a:srgbClr val="1F2937"/>
                </a:solidFill>
                <a:latin typeface="Calibri"/>
              </a:rPr>
              <a:t>Execution-based grading with held-out tests</a:t>
            </a:r>
          </a:p>
          <a:p>
            <a:pPr marL="274320" indent="-274320">
              <a:spcAft>
                <a:spcPts val="10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500" b="0">
                <a:solidFill>
                  <a:srgbClr val="1F2937"/>
                </a:solidFill>
                <a:latin typeface="Calibri"/>
              </a:rPr>
              <a:t>A path back: same pipeline, repo-level tasks later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DATA · WHAT WE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Data – Mostly Basic Python Problems (MBPP)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Small, fast to test and iterate on, with the SWE-Bench idea of varying the LLM configuration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78308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947672"/>
            <a:ext cx="64008" cy="905256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874519"/>
            <a:ext cx="2331720" cy="678942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FA3B1"/>
                </a:solidFill>
                <a:latin typeface="Calibri"/>
              </a:rPr>
              <a:t>968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499055"/>
            <a:ext cx="2331720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MBPP problems used
(of ~1,000)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178308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1947672"/>
            <a:ext cx="64008" cy="905256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7" y="1874519"/>
            <a:ext cx="2331720" cy="678942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F3A"/>
                </a:solidFill>
                <a:latin typeface="Calibri"/>
              </a:rPr>
              <a:t>38,720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7" y="2499055"/>
            <a:ext cx="2331720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AI-generated solutions
(40 per problem)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178308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1947672"/>
            <a:ext cx="64008" cy="9052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19"/>
            <a:ext cx="2331720" cy="678942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59E0B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99055"/>
            <a:ext cx="2331720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LLM configurations
2 temperatures × 4 prompt styles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178308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1704" y="1947672"/>
            <a:ext cx="64008" cy="9052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1874519"/>
            <a:ext cx="2331720" cy="678942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6A34A"/>
                </a:solidFill>
                <a:latin typeface="Calibri"/>
              </a:rPr>
              <a:t>$2.40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499055"/>
            <a:ext cx="2331720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total OpenAI cost
4 h 43 min of generation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3291840"/>
            <a:ext cx="5394960" cy="27889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42900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Visible vs hidden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84048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8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50" b="1">
                <a:solidFill>
                  <a:srgbClr val="1F2937"/>
                </a:solidFill>
                <a:latin typeface="Calibri"/>
              </a:rPr>
              <a:t>Visible test: </a:t>
            </a:r>
            <a:r>
              <a:rPr sz="1450" b="0">
                <a:solidFill>
                  <a:srgbClr val="1F2937"/>
                </a:solidFill>
                <a:latin typeface="Calibri"/>
              </a:rPr>
              <a:t>the first MBPP test, shown to the model in the prompt (like a developer's example)</a:t>
            </a:r>
          </a:p>
          <a:p>
            <a:pPr marL="274320" indent="-274320">
              <a:spcAft>
                <a:spcPts val="8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50" b="1">
                <a:solidFill>
                  <a:srgbClr val="1F2937"/>
                </a:solidFill>
                <a:latin typeface="Calibri"/>
              </a:rPr>
              <a:t>Hidden tests: </a:t>
            </a:r>
            <a:r>
              <a:rPr sz="1450" b="0">
                <a:solidFill>
                  <a:srgbClr val="1F2937"/>
                </a:solidFill>
                <a:latin typeface="Calibri"/>
              </a:rPr>
              <a:t>the remaining tests plus challenge tests, used only for grading</a:t>
            </a:r>
          </a:p>
          <a:p>
            <a:pPr marL="274320" indent="-274320">
              <a:spcAft>
                <a:spcPts val="8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50" b="1">
                <a:solidFill>
                  <a:srgbClr val="1F2937"/>
                </a:solidFill>
                <a:latin typeface="Calibri"/>
              </a:rPr>
              <a:t>Label: </a:t>
            </a:r>
            <a:r>
              <a:rPr sz="1450" b="0">
                <a:solidFill>
                  <a:srgbClr val="1F2937"/>
                </a:solidFill>
                <a:latin typeface="Calibri"/>
              </a:rPr>
              <a:t>trustworthy = passes every hidden test AND no Bandit medium/high finding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291840"/>
            <a:ext cx="5285232" cy="278892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34290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Generation grid: gpt-4o-mini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388620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A3B1"/>
                </a:solidFill>
                <a:latin typeface="Calibri"/>
              </a:rPr>
              <a:t>Temperature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886200"/>
            <a:ext cx="3520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0.3  ·  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4416552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A3B1"/>
                </a:solidFill>
                <a:latin typeface="Calibri"/>
              </a:rPr>
              <a:t>Prompt style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416552"/>
            <a:ext cx="3520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standard · signature_only · step_by_step · constrained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4946904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A3B1"/>
                </a:solidFill>
                <a:latin typeface="Calibri"/>
              </a:rPr>
              <a:t>Samples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946904"/>
            <a:ext cx="3520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5 per configuration and problem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65392" y="5477256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A3B1"/>
                </a:solidFill>
                <a:latin typeface="Calibri"/>
              </a:rPr>
              <a:t>Extras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477256"/>
            <a:ext cx="3520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token log-probabilities and timing saved; everything cached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Data Exploration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One reproducible pipeline: each stage is a command (trust-*) and writes its outputs to disk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11" name="Pentagon 10"/>
          <p:cNvSpPr/>
          <p:nvPr/>
        </p:nvSpPr>
        <p:spPr>
          <a:xfrm>
            <a:off x="566928" y="1783080"/>
            <a:ext cx="1627632" cy="713232"/>
          </a:xfrm>
          <a:prstGeom prst="homePlate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606040"/>
            <a:ext cx="1353312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MBPP split into visible and hidden tests; problems validated</a:t>
            </a:r>
          </a:p>
        </p:txBody>
      </p:sp>
      <p:sp>
        <p:nvSpPr>
          <p:cNvPr id="13" name="Chevron 12"/>
          <p:cNvSpPr/>
          <p:nvPr/>
        </p:nvSpPr>
        <p:spPr>
          <a:xfrm>
            <a:off x="2139696" y="1783080"/>
            <a:ext cx="1627632" cy="713232"/>
          </a:xfrm>
          <a:prstGeom prst="chevron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2606040"/>
            <a:ext cx="1353312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gpt-4o-mini × 8 configs × 5 samples; cached, so reruns cost $0</a:t>
            </a:r>
          </a:p>
        </p:txBody>
      </p:sp>
      <p:sp>
        <p:nvSpPr>
          <p:cNvPr id="15" name="Chevron 14"/>
          <p:cNvSpPr/>
          <p:nvPr/>
        </p:nvSpPr>
        <p:spPr>
          <a:xfrm>
            <a:off x="3712463" y="1783080"/>
            <a:ext cx="1627632" cy="713232"/>
          </a:xfrm>
          <a:prstGeom prst="chevron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2606040"/>
            <a:ext cx="1353312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Sandboxed subprocess: 3 s and 1 GB per candidate</a:t>
            </a:r>
          </a:p>
        </p:txBody>
      </p:sp>
      <p:sp>
        <p:nvSpPr>
          <p:cNvPr id="17" name="Chevron 16"/>
          <p:cNvSpPr/>
          <p:nvPr/>
        </p:nvSpPr>
        <p:spPr>
          <a:xfrm>
            <a:off x="5285232" y="1783080"/>
            <a:ext cx="1627632" cy="713232"/>
          </a:xfrm>
          <a:prstGeom prst="chevron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606040"/>
            <a:ext cx="1353312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All hidden tests pass and no Bandit medium/high</a:t>
            </a:r>
          </a:p>
        </p:txBody>
      </p:sp>
      <p:sp>
        <p:nvSpPr>
          <p:cNvPr id="19" name="Chevron 18"/>
          <p:cNvSpPr/>
          <p:nvPr/>
        </p:nvSpPr>
        <p:spPr>
          <a:xfrm>
            <a:off x="6858000" y="1783080"/>
            <a:ext cx="1627632" cy="713232"/>
          </a:xfrm>
          <a:prstGeom prst="chevron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2606040"/>
            <a:ext cx="1353312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42 pre-execution signals, no hidden-test leakage</a:t>
            </a:r>
          </a:p>
        </p:txBody>
      </p:sp>
      <p:sp>
        <p:nvSpPr>
          <p:cNvPr id="21" name="Chevron 20"/>
          <p:cNvSpPr/>
          <p:nvPr/>
        </p:nvSpPr>
        <p:spPr>
          <a:xfrm>
            <a:off x="8430767" y="1783080"/>
            <a:ext cx="1627632" cy="713232"/>
          </a:xfrm>
          <a:prstGeom prst="chevron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5" y="2606040"/>
            <a:ext cx="1353312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Grouped by problem: 580 / 194 / 194; LR, RF, HGB; isotonic calibration</a:t>
            </a:r>
          </a:p>
        </p:txBody>
      </p:sp>
      <p:sp>
        <p:nvSpPr>
          <p:cNvPr id="23" name="Chevron 22"/>
          <p:cNvSpPr/>
          <p:nvPr/>
        </p:nvSpPr>
        <p:spPr>
          <a:xfrm>
            <a:off x="10003536" y="1783080"/>
            <a:ext cx="1627632" cy="713232"/>
          </a:xfrm>
          <a:prstGeom prst="chevron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3263" y="2606040"/>
            <a:ext cx="1353312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F2937"/>
                </a:solidFill>
                <a:latin typeface="Calibri"/>
              </a:rPr>
              <a:t>95%-precision thresholds and conformal (α = 0.1); human 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319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How exploration shaped the data: four runs, each one fixing what the last revealed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4846320"/>
            <a:ext cx="10881360" cy="3657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528" y="4727448"/>
            <a:ext cx="274320" cy="274320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3434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4A3B8"/>
                </a:solidFill>
                <a:latin typeface="Calibri"/>
              </a:rPr>
              <a:t>Smoke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07492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60 problems, reference code + mutants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376672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Pipeline works end to end, no LLM</a:t>
            </a:r>
          </a:p>
        </p:txBody>
      </p:sp>
      <p:sp>
        <p:nvSpPr>
          <p:cNvPr id="31" name="Oval 30"/>
          <p:cNvSpPr/>
          <p:nvPr/>
        </p:nvSpPr>
        <p:spPr>
          <a:xfrm>
            <a:off x="3566159" y="4727448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39" y="43434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Pilot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39" y="507492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20 problems, 200 solutions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39" y="5376672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0 silent failures: too easy to learn from</a:t>
            </a:r>
          </a:p>
        </p:txBody>
      </p:sp>
      <p:sp>
        <p:nvSpPr>
          <p:cNvPr id="35" name="Oval 34"/>
          <p:cNvSpPr/>
          <p:nvPr/>
        </p:nvSpPr>
        <p:spPr>
          <a:xfrm>
            <a:off x="6336792" y="4727448"/>
            <a:ext cx="274320" cy="274320"/>
          </a:xfrm>
          <a:prstGeom prst="ellipse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1072" y="43434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A3B1"/>
                </a:solidFill>
                <a:latin typeface="Calibri"/>
              </a:rPr>
              <a:t>Pilot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507492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100 problems, 4 prompt styles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5376672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5.9% silent failures; found models writing their own tests</a:t>
            </a:r>
          </a:p>
        </p:txBody>
      </p:sp>
      <p:sp>
        <p:nvSpPr>
          <p:cNvPr id="39" name="Oval 38"/>
          <p:cNvSpPr/>
          <p:nvPr/>
        </p:nvSpPr>
        <p:spPr>
          <a:xfrm>
            <a:off x="9107424" y="4727448"/>
            <a:ext cx="274320" cy="2743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61704" y="434340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4A"/>
                </a:solidFill>
                <a:latin typeface="Calibri"/>
              </a:rPr>
              <a:t>Full run + fix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61704" y="5074920"/>
            <a:ext cx="26060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968 problems, 38,720 solutions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61704" y="5376672"/>
            <a:ext cx="26060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Self-written tests stripped: step_by_step crashes 776 → 179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MBPP EDA – outcomes of generated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38,720 solutions executed against the hidden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Hidden-test outcome, share of all solutions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2011680"/>
          <a:ext cx="52120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035040" y="1783080"/>
            <a:ext cx="2697480" cy="11887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947672"/>
            <a:ext cx="64008" cy="85953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1874519"/>
            <a:ext cx="2423160" cy="653796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A34A"/>
                </a:solidFill>
                <a:latin typeface="Calibri"/>
              </a:rPr>
              <a:t>68.9%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7" y="2472537"/>
            <a:ext cx="2423160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trustworthy (label =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783080"/>
            <a:ext cx="2724912" cy="11887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947672"/>
            <a:ext cx="64008" cy="859536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1874519"/>
            <a:ext cx="2450592" cy="653796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A3B1"/>
                </a:solidFill>
                <a:latin typeface="Calibri"/>
              </a:rPr>
              <a:t>75.6%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472537"/>
            <a:ext cx="2450592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pass the visible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154680"/>
            <a:ext cx="5605272" cy="11887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3319272"/>
            <a:ext cx="64008" cy="8595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7" y="3246120"/>
            <a:ext cx="5330952" cy="653796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C2626"/>
                </a:solidFill>
                <a:latin typeface="Calibri"/>
              </a:rPr>
              <a:t>3,127  (10.7%)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3844137"/>
            <a:ext cx="5330952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silent failures: pass the visible test, but untrustworthy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57200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00" b="1">
                <a:solidFill>
                  <a:srgbClr val="1F2937"/>
                </a:solidFill>
                <a:latin typeface="Calibri"/>
              </a:rPr>
              <a:t>Failing code is usually completely wrong: </a:t>
            </a:r>
            <a:r>
              <a:rPr sz="1400" b="0">
                <a:solidFill>
                  <a:srgbClr val="1F2937"/>
                </a:solidFill>
                <a:latin typeface="Calibri"/>
              </a:rPr>
              <a:t>most untrustworthy solutions pass 0% of hidden tests</a:t>
            </a:r>
          </a:p>
          <a:p>
            <a:pPr marL="274320" indent="-274320">
              <a:spcAft>
                <a:spcPts val="6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00" b="1">
                <a:solidFill>
                  <a:srgbClr val="1F2937"/>
                </a:solidFill>
                <a:latin typeface="Calibri"/>
              </a:rPr>
              <a:t>Crashes are mostly argument-type guesses: </a:t>
            </a:r>
            <a:r>
              <a:rPr sz="1400" b="0">
                <a:solidFill>
                  <a:srgbClr val="1F2937"/>
                </a:solidFill>
                <a:latin typeface="Calibri"/>
              </a:rPr>
              <a:t>TypeError dominates (966), far ahead of ValueError (113)</a:t>
            </a:r>
          </a:p>
          <a:p>
            <a:pPr marL="274320" indent="-274320">
              <a:spcAft>
                <a:spcPts val="6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00" b="1">
                <a:solidFill>
                  <a:srgbClr val="1F2937"/>
                </a:solidFill>
                <a:latin typeface="Calibri"/>
              </a:rPr>
              <a:t>gpt-4o-mini rarely produces broken code: </a:t>
            </a:r>
            <a:r>
              <a:rPr sz="1400" b="0">
                <a:solidFill>
                  <a:srgbClr val="1F2937"/>
                </a:solidFill>
                <a:latin typeface="Calibri"/>
              </a:rPr>
              <a:t>syntax errors and timeouts are about 0.1% 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MBPP EDA – what changes trustworthiness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Prompt style matters, temperature barely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Trustworthy rate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1965960"/>
          <a:ext cx="54864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16459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Silent-failure rate (share of visible passes)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172200" y="1965960"/>
          <a:ext cx="548640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49808" y="512064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50" b="1">
                <a:solidFill>
                  <a:srgbClr val="1F2937"/>
                </a:solidFill>
                <a:latin typeface="Calibri"/>
              </a:rPr>
              <a:t>Removing the example test (signature_only) </a:t>
            </a:r>
            <a:r>
              <a:rPr sz="1450" b="0">
                <a:solidFill>
                  <a:srgbClr val="1F2937"/>
                </a:solidFill>
                <a:latin typeface="Calibri"/>
              </a:rPr>
              <a:t>drops trustworthiness from about 74% to 55%, but its mistakes are more visible (fewer silent failures).</a:t>
            </a:r>
          </a:p>
          <a:p>
            <a:pPr marL="274320" indent="-274320">
              <a:spcAft>
                <a:spcPts val="6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50" b="1">
                <a:solidFill>
                  <a:srgbClr val="1F2937"/>
                </a:solidFill>
                <a:latin typeface="Calibri"/>
              </a:rPr>
              <a:t>step_by_step costs about 5× more tokens </a:t>
            </a:r>
            <a:r>
              <a:rPr sz="1450" b="0">
                <a:solidFill>
                  <a:srgbClr val="1F2937"/>
                </a:solidFill>
                <a:latin typeface="Calibri"/>
              </a:rPr>
              <a:t>(239 vs 51 per answer) for the same trustworthiness as standard. Temperature 0.3 vs 1.0 changes rates by under 1 point.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MBPP EDA – problems and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Failures cluster by problem, and three signals carry most of the information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Problems by share of trustworthy solutions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1965960"/>
          <a:ext cx="539496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164592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Correlation of each signal with the label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172200" y="1965960"/>
          <a:ext cx="54864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55080" y="4681728"/>
            <a:ext cx="5303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0FA3B1"/>
                </a:solidFill>
                <a:latin typeface="Calibri"/>
              </a:rPr>
              <a:t>■ </a:t>
            </a:r>
            <a:r>
              <a:rPr sz="1100" b="0" i="0">
                <a:solidFill>
                  <a:srgbClr val="6B7280"/>
                </a:solidFill>
                <a:latin typeface="Calibri"/>
              </a:rPr>
              <a:t>higher means more trustworthy     </a:t>
            </a:r>
            <a:r>
              <a:rPr sz="1100" b="0" i="0">
                <a:solidFill>
                  <a:srgbClr val="94A3B8"/>
                </a:solidFill>
                <a:latin typeface="Calibri"/>
              </a:rPr>
              <a:t>■ </a:t>
            </a:r>
            <a:r>
              <a:rPr sz="1100" b="0" i="0">
                <a:solidFill>
                  <a:srgbClr val="6B7280"/>
                </a:solidFill>
                <a:latin typeface="Calibri"/>
              </a:rPr>
              <a:t>higher means less trustworthy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0749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6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50" b="1">
                <a:solidFill>
                  <a:srgbClr val="1F2937"/>
                </a:solidFill>
                <a:latin typeface="Calibri"/>
              </a:rPr>
              <a:t>All-or-nothing problems: </a:t>
            </a:r>
            <a:r>
              <a:rPr sz="1450" b="0">
                <a:solidFill>
                  <a:srgbClr val="1F2937"/>
                </a:solidFill>
                <a:latin typeface="Calibri"/>
              </a:rPr>
              <a:t>388 always solved, 137 never solved, so every split must be grouped by problem to avoid leakage.</a:t>
            </a:r>
          </a:p>
          <a:p>
            <a:pPr marL="274320" indent="-274320">
              <a:spcAft>
                <a:spcPts val="6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450" b="1">
                <a:solidFill>
                  <a:srgbClr val="1F2937"/>
                </a:solidFill>
                <a:latin typeface="Calibri"/>
              </a:rPr>
              <a:t>Visible test and sibling agreement dominate; </a:t>
            </a:r>
            <a:r>
              <a:rPr sz="1450" b="0">
                <a:solidFill>
                  <a:srgbClr val="1F2937"/>
                </a:solidFill>
                <a:latin typeface="Calibri"/>
              </a:rPr>
              <a:t>size, complexity and lint are weak (|r| ≤ 0.12). Token confidence is nearly useless for gpt-4o-mini (r ≈ 0.03): it is often confidently wrong.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MBPP TrustGate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Held-out test set: 194 unseen problems, 7,760 solutions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Ranking quality (AUROC)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1965960"/>
          <a:ext cx="51206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989320" y="2011680"/>
          <a:ext cx="56509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94944"/>
                <a:gridCol w="877824"/>
                <a:gridCol w="658368"/>
                <a:gridCol w="658368"/>
                <a:gridCol w="749808"/>
              </a:tblGrid>
              <a:tr h="438912">
                <a:tc>
                  <a:txBody>
                    <a:bodyPr wrap="square" anchor="ctr" lIns="45720" rIns="45720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Brier ↓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 wrap="square" anchor="ctr" lIns="45720" rIns="45720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Visible test only (baseline)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0.856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0.964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0.916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0.101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38912">
                <a:tc>
                  <a:txBody>
                    <a:bodyPr wrap="square" anchor="ctr" lIns="45720" rIns="45720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 anchor="ctr" lIns="45720" rIns="45720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Gradient boosting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0.931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0.900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0.946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0.922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0.085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38912">
                <a:tc>
                  <a:txBody>
                    <a:bodyPr wrap="square" anchor="ctr" lIns="45720" rIns="45720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TrustGate: random forest, calibrated</a:t>
                      </a:r>
                    </a:p>
                  </a:txBody>
                  <a:tcPr>
                    <a:solidFill>
                      <a:srgbClr val="E0F4F6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0.941</a:t>
                      </a:r>
                    </a:p>
                  </a:txBody>
                  <a:tcPr>
                    <a:solidFill>
                      <a:srgbClr val="E0F4F6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0.892</a:t>
                      </a:r>
                    </a:p>
                  </a:txBody>
                  <a:tcPr>
                    <a:solidFill>
                      <a:srgbClr val="E0F4F6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0.956</a:t>
                      </a:r>
                    </a:p>
                  </a:txBody>
                  <a:tcPr>
                    <a:solidFill>
                      <a:srgbClr val="E0F4F6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0.923</a:t>
                      </a:r>
                    </a:p>
                  </a:txBody>
                  <a:tcPr>
                    <a:solidFill>
                      <a:srgbClr val="E0F4F6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1F2937"/>
                          </a:solidFill>
                          <a:latin typeface="Calibri"/>
                        </a:rPr>
                        <a:t>0.081</a:t>
                      </a:r>
                    </a:p>
                  </a:txBody>
                  <a:tcPr>
                    <a:solidFill>
                      <a:srgbClr val="E0F4F6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989320" y="429768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Precision, recall and F1 at a 0.5 cutoff. 95% bootstrap CIs, resampled by problem: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572000"/>
            <a:ext cx="56692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AUROC 0.941 [0.910, 0.968]   ·   Precision 0.892 [0.849, 0.934]</a:t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F3A"/>
                </a:solidFill>
                <a:latin typeface="Calibri"/>
              </a:rPr>
              <a:t>Recall 0.956 [0.929, 0.977]   ·   F1 0.923 [0.895, 0.949]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440680"/>
            <a:ext cx="10881360" cy="777240"/>
          </a:xfrm>
          <a:prstGeom prst="roundRect">
            <a:avLst>
              <a:gd name="adj" fmla="val 12000"/>
            </a:avLst>
          </a:prstGeom>
          <a:solidFill>
            <a:srgbClr val="E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486400"/>
            <a:ext cx="10515600" cy="6858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1F3A"/>
                </a:solidFill>
                <a:latin typeface="Calibri"/>
              </a:rPr>
              <a:t>Takeaway: </a:t>
            </a:r>
            <a:r>
              <a:rPr sz="1450" b="0" i="0">
                <a:solidFill>
                  <a:srgbClr val="1F2937"/>
                </a:solidFill>
                <a:latin typeface="Calibri"/>
              </a:rPr>
              <a:t>TrustGate ranks code far better than "trust it if it passes the example" (AUROC 0.941 vs 0.856); the baseline lies outside the model's whole confidence interval. Ranking is what powers the three-way gate.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From score to gate: approve, review, reject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Thresholds tuned for 95% precision on a separate calibration set, applied to the test problems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Test solutions by decision and true label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48640" y="1965960"/>
          <a:ext cx="5303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2200" y="17830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947672"/>
            <a:ext cx="64008" cy="85953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74519"/>
            <a:ext cx="2377440" cy="653796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A34A"/>
                </a:solidFill>
                <a:latin typeface="Calibri"/>
              </a:rPr>
              <a:t>92.6%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72537"/>
            <a:ext cx="2377440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approval precision
baseline 87.2%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17830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88552" y="1947672"/>
            <a:ext cx="64008" cy="8595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874519"/>
            <a:ext cx="2377440" cy="653796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9E0B"/>
                </a:solidFill>
                <a:latin typeface="Calibri"/>
              </a:rPr>
              <a:t>9.3%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472537"/>
            <a:ext cx="2377440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sent to human review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54680"/>
            <a:ext cx="5468112" cy="11887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319272"/>
            <a:ext cx="64008" cy="85953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246120"/>
            <a:ext cx="5193792" cy="653796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C2626"/>
                </a:solidFill>
                <a:latin typeface="Calibri"/>
              </a:rPr>
              <a:t>357 of 702  (51%)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844137"/>
            <a:ext cx="5193792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silent failures stopped (review or reject); the visible-test rule approves all of them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72200" y="4572000"/>
          <a:ext cx="5468112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1627632"/>
              </a:tblGrid>
              <a:tr h="350520">
                <a:tc>
                  <a:txBody>
                    <a:bodyPr wrap="square" anchor="ctr" lIns="45720" rIns="45720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Decision rule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Approve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Approval precision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50520">
                <a:tc>
                  <a:txBody>
                    <a:bodyPr wrap="square" anchor="ctr" lIns="45720" rIns="45720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Threshold rule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60.4%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92.6%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50520">
                <a:tc>
                  <a:txBody>
                    <a:bodyPr wrap="square" anchor="ctr" lIns="45720" rIns="45720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Conformal (α = 0.1)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b="0" i="0">
                          <a:solidFill>
                            <a:srgbClr val="1F2937"/>
                          </a:solidFill>
                          <a:latin typeface="Calibri"/>
                        </a:rPr>
                        <a:t>90.7%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172200" y="576072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Approval precision is 92.6% against a 95% target: the thresholds shift between calibration and test problems (next steps).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The trade-off: how much can we approve safely?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Approval precision when TrustGate approves only its most confident share of test solutions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1691640"/>
          <a:ext cx="69494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863840" y="1783080"/>
            <a:ext cx="3776472" cy="11887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947672"/>
            <a:ext cx="64008" cy="85953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8" y="1874519"/>
            <a:ext cx="3502152" cy="653796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A34A"/>
                </a:solidFill>
                <a:latin typeface="Calibri"/>
              </a:rPr>
              <a:t>95.7%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2472537"/>
            <a:ext cx="3502152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precision when approving the most confident 50%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154680"/>
            <a:ext cx="3776472" cy="118872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3319272"/>
            <a:ext cx="64008" cy="8595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8" y="3246120"/>
            <a:ext cx="3502152" cy="653796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9E0B"/>
                </a:solidFill>
                <a:latin typeface="Calibri"/>
              </a:rPr>
              <a:t>92.6% at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3844137"/>
            <a:ext cx="3502152" cy="47548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what the calibrated thresholds actually delivered on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526280"/>
            <a:ext cx="3840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5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350" b="0">
                <a:solidFill>
                  <a:srgbClr val="1F2937"/>
                </a:solidFill>
                <a:latin typeface="Calibri"/>
              </a:rPr>
              <a:t>The 95% target is reachable: approve a little less, review a little more</a:t>
            </a:r>
          </a:p>
          <a:p>
            <a:pPr marL="274320" indent="-274320">
              <a:spcAft>
                <a:spcPts val="5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350" b="0">
                <a:solidFill>
                  <a:srgbClr val="1F2937"/>
                </a:solidFill>
                <a:latin typeface="Calibri"/>
              </a:rPr>
              <a:t>Thresholds chosen on one calibration split drifted on new problems</a:t>
            </a:r>
          </a:p>
          <a:p>
            <a:pPr marL="274320" indent="-274320">
              <a:spcAft>
                <a:spcPts val="500"/>
              </a:spcAft>
              <a:buClr>
                <a:srgbClr val="0FA3B1"/>
              </a:buClr>
              <a:buSzPct val="70000"/>
              <a:buFont typeface="Arial"/>
              <a:buChar char="■"/>
            </a:pPr>
            <a:r>
              <a:rPr sz="1350" b="0">
                <a:solidFill>
                  <a:srgbClr val="1F2937"/>
                </a:solidFill>
                <a:latin typeface="Calibri"/>
              </a:rPr>
              <a:t>Fix: choose them by cross-validation across problems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Are the automated labels right? A real human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164 stratified solutions reviewed blind by Hatem in a custom review app, with code and test runners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78308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947672"/>
            <a:ext cx="64008" cy="905256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874519"/>
            <a:ext cx="2331720" cy="678942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FA3B1"/>
                </a:solidFill>
                <a:latin typeface="Calibri"/>
              </a:rPr>
              <a:t>0.74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499055"/>
            <a:ext cx="2331720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Cohen's kappa
95% CI [0.62, 0.84]: substantial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783080"/>
            <a:ext cx="2606040" cy="1234440"/>
          </a:xfrm>
          <a:prstGeom prst="roundRect">
            <a:avLst>
              <a:gd name="adj" fmla="val 12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1947672"/>
            <a:ext cx="64008" cy="9052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8" y="1874519"/>
            <a:ext cx="2331720" cy="678942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6A34A"/>
                </a:solidFill>
                <a:latin typeface="Calibri"/>
              </a:rPr>
              <a:t>88.4%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2499055"/>
            <a:ext cx="2331720" cy="4937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7280"/>
                </a:solidFill>
                <a:latin typeface="Calibri"/>
              </a:rPr>
              <a:t>raw agreement with the
execution-based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461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Confusion: automated label vs human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49808" y="3657600"/>
          <a:ext cx="5376671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831"/>
                <a:gridCol w="1645920"/>
                <a:gridCol w="1645920"/>
              </a:tblGrid>
              <a:tr h="670560"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Human: trustworthy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Human: not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70560"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Label: trustworthy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b="1" i="0">
                          <a:solidFill>
                            <a:srgbClr val="FFFFFF"/>
                          </a:solidFill>
                          <a:latin typeface="Calibri"/>
                        </a:rPr>
                        <a:t>101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b="1" i="0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670560"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Label: not trustworthy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b="1" i="0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 wrap="square" anchor="ctr" lIns="45720" rIns="45720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600" b="1" i="0">
                          <a:solidFill>
                            <a:srgbClr val="FFFFFF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49808" y="5760720"/>
            <a:ext cx="53949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16 times the human approved code that fails hidden tests; 3 times the human's own edge-case checks rejected passing code.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69164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Agreement by what the code actually did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400800" y="2011680"/>
          <a:ext cx="530352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537960" y="4892040"/>
            <a:ext cx="5102352" cy="1325880"/>
          </a:xfrm>
          <a:prstGeom prst="roundRect">
            <a:avLst>
              <a:gd name="adj" fmla="val 12000"/>
            </a:avLst>
          </a:prstGeom>
          <a:solidFill>
            <a:srgbClr val="E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956048"/>
            <a:ext cx="475488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F3A"/>
                </a:solidFill>
                <a:latin typeface="Calibri"/>
              </a:rPr>
              <a:t>What it means: </a:t>
            </a:r>
            <a:r>
              <a:rPr sz="1350" b="0" i="0">
                <a:solidFill>
                  <a:srgbClr val="1F2937"/>
                </a:solidFill>
                <a:latin typeface="Calibri"/>
              </a:rPr>
              <a:t>the labels hold up (κ = 0.74). Disagreements are lopsided: reading code, a human misses about 1 in 3 wrong-output solutions. That is the case for execution-grounded trust signals over review alone.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02920"/>
            <a:ext cx="82296" cy="86868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384048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A3B1"/>
                </a:solidFill>
                <a:latin typeface="Calibri"/>
              </a:rPr>
              <a:t>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640080"/>
            <a:ext cx="107899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1F3A"/>
                </a:solidFill>
                <a:latin typeface="Calibri"/>
              </a:rPr>
              <a:t>Where to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170432"/>
            <a:ext cx="107899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7280"/>
                </a:solidFill>
                <a:latin typeface="Calibri"/>
              </a:rPr>
              <a:t>What the data says, and the step it points 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82512"/>
            <a:ext cx="11091672" cy="1097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F3A"/>
                </a:solidFill>
                <a:latin typeface="Calibri"/>
              </a:rPr>
              <a:t>Trust</a:t>
            </a:r>
            <a:r>
              <a:rPr sz="1050" b="1" i="0">
                <a:solidFill>
                  <a:srgbClr val="0FA3B1"/>
                </a:solidFill>
                <a:latin typeface="Calibri"/>
              </a:rPr>
              <a:t>Gate</a:t>
            </a:r>
            <a:r>
              <a:rPr sz="1050" b="0" i="0">
                <a:solidFill>
                  <a:srgbClr val="6B7280"/>
                </a:solidFill>
                <a:latin typeface="Calibri"/>
              </a:rPr>
              <a:t>   ·   Mid-term progress   ·   MBPP full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7830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783080"/>
            <a:ext cx="3520440" cy="73152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1965960"/>
            <a:ext cx="3154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350008"/>
            <a:ext cx="31546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A3B1"/>
                </a:solidFill>
                <a:latin typeface="Calibri"/>
              </a:rPr>
              <a:t>Data: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Approval precision 92.6% vs the 95%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044952"/>
            <a:ext cx="31546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Next: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Choose thresholds by grouped cross-validation; report the risk–coverage trade-off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7830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1783080"/>
            <a:ext cx="3520440" cy="7315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1965960"/>
            <a:ext cx="3154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Stronger ground truth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2350008"/>
            <a:ext cx="31546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Data: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Humans agree on only 69% of wrong-output code; some MBPP tests are faulty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3044952"/>
            <a:ext cx="31546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Next: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Add MBPP+ (EvalPlus, many more tests); a second reviewer for inter-rater kappa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7830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1783080"/>
            <a:ext cx="3520440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965960"/>
            <a:ext cx="3154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More diverse failures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50008"/>
            <a:ext cx="31546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Data: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gpt-4o-mini almost never crashes; token confidence is a weak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044952"/>
            <a:ext cx="31546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Next: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Add weaker and other models (Qwen on Colab, Claude) to the same pipeline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78608" y="40690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78608" y="4069080"/>
            <a:ext cx="352044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79776" y="4251960"/>
            <a:ext cx="3154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Leaner, richer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9776" y="4636008"/>
            <a:ext cx="31546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A34A"/>
                </a:solidFill>
                <a:latin typeface="Calibri"/>
              </a:rPr>
              <a:t>Data: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Three signals carry most of the weight; size and lint add little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9776" y="5330952"/>
            <a:ext cx="31546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Next: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Simplify to a small explainable model; add an "agent's own tests passed" signal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069080"/>
            <a:ext cx="3520440" cy="210312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069080"/>
            <a:ext cx="3520440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4251960"/>
            <a:ext cx="3154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Back to the factory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4636008"/>
            <a:ext cx="31546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C2626"/>
                </a:solidFill>
                <a:latin typeface="Calibri"/>
              </a:rPr>
              <a:t>Data: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MBPP is function-level and has almost no security findings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808" y="5330952"/>
            <a:ext cx="315468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F3A"/>
                </a:solidFill>
                <a:latin typeface="Calibri"/>
              </a:rPr>
              <a:t>Next: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Repo-level tasks (SWE-Bench Lite) and security-focused tasks for the Bandit signal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A3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A3B1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1945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10.7%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280160"/>
            <a:ext cx="54864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BD5E1"/>
                </a:solidFill>
                <a:latin typeface="Calibri"/>
              </a:rPr>
              <a:t>of code that passes its example test is silently wrong: the example test is not a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21945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0.94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240280"/>
            <a:ext cx="54864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BD5E1"/>
                </a:solidFill>
                <a:latin typeface="Calibri"/>
              </a:rPr>
              <a:t>AUROC for TrustGate vs 0.86 for the visible-test rule, on unseen 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1945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00400"/>
            <a:ext cx="54864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BD5E1"/>
                </a:solidFill>
                <a:latin typeface="Calibri"/>
              </a:rPr>
              <a:t>of silent failures stopped, with only 9% of code sent to a human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21945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κ 0.74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160520"/>
            <a:ext cx="54864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BD5E1"/>
                </a:solidFill>
                <a:latin typeface="Calibri"/>
              </a:rPr>
              <a:t>agreement between our execution labels and a blind human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377440"/>
            <a:ext cx="327355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291840"/>
            <a:ext cx="327355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0FA3B1"/>
                </a:solidFill>
                <a:latin typeface="Calibri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5760720"/>
            <a:ext cx="29260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github.com/hatemphd/MLE_MBPP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Notebook runs in Colab on the saved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8932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4A3B8"/>
                </a:solidFill>
                <a:latin typeface="Calibri"/>
              </a:rPr>
              <a:t>Hatem El-Sebaaly  ·  Shamik Bera  ·  Connor Westcott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187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TrustGate</vt:lpstr>
      <vt:lpstr>Problem Statement </vt:lpstr>
      <vt:lpstr>TrustGate</vt:lpstr>
      <vt:lpstr>Data – SWE-Bench</vt:lpstr>
      <vt:lpstr>Data - Mostly Basic Python Problems</vt:lpstr>
      <vt:lpstr>Data Exploration process</vt:lpstr>
      <vt:lpstr>MBPP EDA</vt:lpstr>
      <vt:lpstr>MBPP TrustGate Performance</vt:lpstr>
      <vt:lpstr>Where to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 Westcott</dc:creator>
  <cp:lastModifiedBy>Connor Westcott</cp:lastModifiedBy>
  <cp:revision>4</cp:revision>
  <dcterms:created xsi:type="dcterms:W3CDTF">2026-10-14T22:34:28Z</dcterms:created>
  <dcterms:modified xsi:type="dcterms:W3CDTF">2026-10-14T22:51:37Z</dcterms:modified>
</cp:coreProperties>
</file>